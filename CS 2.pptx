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Norwester" charset="1" panose="00000506000000000000"/>
      <p:regular r:id="rId17"/>
    </p:embeddedFont>
    <p:embeddedFont>
      <p:font typeface="Hero Bold" charset="1" panose="00000500000000000000"/>
      <p:regular r:id="rId18"/>
    </p:embeddedFont>
    <p:embeddedFont>
      <p:font typeface="Hero" charset="1" panose="000005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 Id="rId8" Target="../media/image21.png" Type="http://schemas.openxmlformats.org/officeDocument/2006/relationships/image"/><Relationship Id="rId9" Target="../media/image2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3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32.png" Type="http://schemas.openxmlformats.org/officeDocument/2006/relationships/image"/><Relationship Id="rId5" Target="../media/image33.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0.png" Type="http://schemas.openxmlformats.org/officeDocument/2006/relationships/image"/><Relationship Id="rId11" Target="../media/image41.svg" Type="http://schemas.openxmlformats.org/officeDocument/2006/relationships/image"/><Relationship Id="rId12" Target="../media/image42.png" Type="http://schemas.openxmlformats.org/officeDocument/2006/relationships/image"/><Relationship Id="rId13" Target="../media/image43.svg" Type="http://schemas.openxmlformats.org/officeDocument/2006/relationships/image"/><Relationship Id="rId14" Target="../media/image44.png" Type="http://schemas.openxmlformats.org/officeDocument/2006/relationships/image"/><Relationship Id="rId15" Target="../media/image45.svg" Type="http://schemas.openxmlformats.org/officeDocument/2006/relationships/image"/><Relationship Id="rId16" Target="../media/image46.png" Type="http://schemas.openxmlformats.org/officeDocument/2006/relationships/image"/><Relationship Id="rId17" Target="../media/image47.svg" Type="http://schemas.openxmlformats.org/officeDocument/2006/relationships/image"/><Relationship Id="rId18" Target="../media/image48.png" Type="http://schemas.openxmlformats.org/officeDocument/2006/relationships/image"/><Relationship Id="rId19" Target="../media/image49.svg" Type="http://schemas.openxmlformats.org/officeDocument/2006/relationships/image"/><Relationship Id="rId2" Target="../media/image27.png" Type="http://schemas.openxmlformats.org/officeDocument/2006/relationships/image"/><Relationship Id="rId20" Target="../media/image50.png" Type="http://schemas.openxmlformats.org/officeDocument/2006/relationships/image"/><Relationship Id="rId21" Target="../media/image51.svg" Type="http://schemas.openxmlformats.org/officeDocument/2006/relationships/image"/><Relationship Id="rId22" Target="../media/image52.png" Type="http://schemas.openxmlformats.org/officeDocument/2006/relationships/image"/><Relationship Id="rId23" Target="../media/image53.svg" Type="http://schemas.openxmlformats.org/officeDocument/2006/relationships/image"/><Relationship Id="rId24" Target="../media/image54.png" Type="http://schemas.openxmlformats.org/officeDocument/2006/relationships/image"/><Relationship Id="rId25" Target="../media/image55.svg" Type="http://schemas.openxmlformats.org/officeDocument/2006/relationships/image"/><Relationship Id="rId26" Target="../media/image56.png" Type="http://schemas.openxmlformats.org/officeDocument/2006/relationships/image"/><Relationship Id="rId27" Target="../media/image57.svg" Type="http://schemas.openxmlformats.org/officeDocument/2006/relationships/image"/><Relationship Id="rId3" Target="../media/image28.svg" Type="http://schemas.openxmlformats.org/officeDocument/2006/relationships/image"/><Relationship Id="rId4" Target="../media/image34.png" Type="http://schemas.openxmlformats.org/officeDocument/2006/relationships/image"/><Relationship Id="rId5" Target="../media/image35.svg" Type="http://schemas.openxmlformats.org/officeDocument/2006/relationships/image"/><Relationship Id="rId6" Target="../media/image36.png" Type="http://schemas.openxmlformats.org/officeDocument/2006/relationships/image"/><Relationship Id="rId7" Target="../media/image37.svg" Type="http://schemas.openxmlformats.org/officeDocument/2006/relationships/image"/><Relationship Id="rId8" Target="../media/image38.png" Type="http://schemas.openxmlformats.org/officeDocument/2006/relationships/image"/><Relationship Id="rId9" Target="../media/image39.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9905" y="376073"/>
            <a:ext cx="17379440" cy="9553234"/>
            <a:chOff x="0" y="0"/>
            <a:chExt cx="23172587" cy="12737646"/>
          </a:xfrm>
        </p:grpSpPr>
        <p:sp>
          <p:nvSpPr>
            <p:cNvPr name="Freeform 3" id="3"/>
            <p:cNvSpPr/>
            <p:nvPr/>
          </p:nvSpPr>
          <p:spPr>
            <a:xfrm flipH="false" flipV="false" rot="-10800000">
              <a:off x="0" y="0"/>
              <a:ext cx="18190091" cy="12737646"/>
            </a:xfrm>
            <a:custGeom>
              <a:avLst/>
              <a:gdLst/>
              <a:ahLst/>
              <a:cxnLst/>
              <a:rect r="r" b="b" t="t" l="l"/>
              <a:pathLst>
                <a:path h="12737646" w="18190091">
                  <a:moveTo>
                    <a:pt x="0" y="0"/>
                  </a:moveTo>
                  <a:lnTo>
                    <a:pt x="18190091" y="0"/>
                  </a:lnTo>
                  <a:lnTo>
                    <a:pt x="18190091" y="12737646"/>
                  </a:lnTo>
                  <a:lnTo>
                    <a:pt x="0" y="12737646"/>
                  </a:lnTo>
                  <a:lnTo>
                    <a:pt x="0" y="0"/>
                  </a:lnTo>
                  <a:close/>
                </a:path>
              </a:pathLst>
            </a:custGeom>
            <a:blipFill>
              <a:blip r:embed="rId2">
                <a:extLst>
                  <a:ext uri="{96DAC541-7B7A-43D3-8B79-37D633B846F1}">
                    <asvg:svgBlip xmlns:asvg="http://schemas.microsoft.com/office/drawing/2016/SVG/main" r:embed="rId3"/>
                  </a:ext>
                </a:extLst>
              </a:blip>
              <a:stretch>
                <a:fillRect l="-94" t="0" r="-94" b="0"/>
              </a:stretch>
            </a:blipFill>
          </p:spPr>
        </p:sp>
        <p:sp>
          <p:nvSpPr>
            <p:cNvPr name="Freeform 4" id="4"/>
            <p:cNvSpPr/>
            <p:nvPr/>
          </p:nvSpPr>
          <p:spPr>
            <a:xfrm flipH="false" flipV="false" rot="-10800000">
              <a:off x="4982496" y="0"/>
              <a:ext cx="18190091" cy="12737646"/>
            </a:xfrm>
            <a:custGeom>
              <a:avLst/>
              <a:gdLst/>
              <a:ahLst/>
              <a:cxnLst/>
              <a:rect r="r" b="b" t="t" l="l"/>
              <a:pathLst>
                <a:path h="12737646" w="18190091">
                  <a:moveTo>
                    <a:pt x="0" y="0"/>
                  </a:moveTo>
                  <a:lnTo>
                    <a:pt x="18190091" y="0"/>
                  </a:lnTo>
                  <a:lnTo>
                    <a:pt x="18190091" y="12737646"/>
                  </a:lnTo>
                  <a:lnTo>
                    <a:pt x="0" y="12737646"/>
                  </a:lnTo>
                  <a:lnTo>
                    <a:pt x="0" y="0"/>
                  </a:lnTo>
                  <a:close/>
                </a:path>
              </a:pathLst>
            </a:custGeom>
            <a:blipFill>
              <a:blip r:embed="rId2">
                <a:extLst>
                  <a:ext uri="{96DAC541-7B7A-43D3-8B79-37D633B846F1}">
                    <asvg:svgBlip xmlns:asvg="http://schemas.microsoft.com/office/drawing/2016/SVG/main" r:embed="rId3"/>
                  </a:ext>
                </a:extLst>
              </a:blip>
              <a:stretch>
                <a:fillRect l="-94" t="0" r="-94" b="0"/>
              </a:stretch>
            </a:blipFill>
          </p:spPr>
        </p:sp>
      </p:grpSp>
      <p:sp>
        <p:nvSpPr>
          <p:cNvPr name="Freeform 5" id="5"/>
          <p:cNvSpPr/>
          <p:nvPr/>
        </p:nvSpPr>
        <p:spPr>
          <a:xfrm flipH="false" flipV="false" rot="0">
            <a:off x="10065040" y="1028700"/>
            <a:ext cx="9934239" cy="9636212"/>
          </a:xfrm>
          <a:custGeom>
            <a:avLst/>
            <a:gdLst/>
            <a:ahLst/>
            <a:cxnLst/>
            <a:rect r="r" b="b" t="t" l="l"/>
            <a:pathLst>
              <a:path h="9636212" w="9934239">
                <a:moveTo>
                  <a:pt x="0" y="0"/>
                </a:moveTo>
                <a:lnTo>
                  <a:pt x="9934239" y="0"/>
                </a:lnTo>
                <a:lnTo>
                  <a:pt x="9934239" y="9636212"/>
                </a:lnTo>
                <a:lnTo>
                  <a:pt x="0" y="96362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1207697" y="1669999"/>
            <a:ext cx="8685116" cy="5702523"/>
          </a:xfrm>
          <a:prstGeom prst="rect">
            <a:avLst/>
          </a:prstGeom>
        </p:spPr>
        <p:txBody>
          <a:bodyPr anchor="t" rtlCol="false" tIns="0" lIns="0" bIns="0" rIns="0">
            <a:spAutoFit/>
          </a:bodyPr>
          <a:lstStyle/>
          <a:p>
            <a:pPr algn="l">
              <a:lnSpc>
                <a:spcPts val="14990"/>
              </a:lnSpc>
            </a:pPr>
            <a:r>
              <a:rPr lang="en-US" sz="13035">
                <a:solidFill>
                  <a:srgbClr val="FFFFFF"/>
                </a:solidFill>
                <a:latin typeface="Norwester"/>
                <a:ea typeface="Norwester"/>
                <a:cs typeface="Norwester"/>
                <a:sym typeface="Norwester"/>
              </a:rPr>
              <a:t>Screentime to Studytime</a:t>
            </a:r>
          </a:p>
        </p:txBody>
      </p:sp>
      <p:sp>
        <p:nvSpPr>
          <p:cNvPr name="TextBox 7" id="7"/>
          <p:cNvSpPr txBox="true"/>
          <p:nvPr/>
        </p:nvSpPr>
        <p:spPr>
          <a:xfrm rot="0">
            <a:off x="1873470" y="7580053"/>
            <a:ext cx="9348885" cy="570775"/>
          </a:xfrm>
          <a:prstGeom prst="rect">
            <a:avLst/>
          </a:prstGeom>
        </p:spPr>
        <p:txBody>
          <a:bodyPr anchor="t" rtlCol="false" tIns="0" lIns="0" bIns="0" rIns="0">
            <a:spAutoFit/>
          </a:bodyPr>
          <a:lstStyle/>
          <a:p>
            <a:pPr algn="l">
              <a:lnSpc>
                <a:spcPts val="4658"/>
              </a:lnSpc>
            </a:pPr>
            <a:r>
              <a:rPr lang="en-US" sz="3327" spc="116">
                <a:solidFill>
                  <a:srgbClr val="FFFFFF"/>
                </a:solidFill>
                <a:latin typeface="Hero Bold"/>
                <a:ea typeface="Hero Bold"/>
                <a:cs typeface="Hero Bold"/>
                <a:sym typeface="Hero Bold"/>
              </a:rPr>
              <a:t>“When the Phone Chimes, It’s Study Time”</a:t>
            </a:r>
          </a:p>
        </p:txBody>
      </p:sp>
      <p:sp>
        <p:nvSpPr>
          <p:cNvPr name="Freeform 8" id="8"/>
          <p:cNvSpPr/>
          <p:nvPr/>
        </p:nvSpPr>
        <p:spPr>
          <a:xfrm flipH="false" flipV="false" rot="3872418">
            <a:off x="5562873" y="-301806"/>
            <a:ext cx="6019033" cy="3828639"/>
          </a:xfrm>
          <a:custGeom>
            <a:avLst/>
            <a:gdLst/>
            <a:ahLst/>
            <a:cxnLst/>
            <a:rect r="r" b="b" t="t" l="l"/>
            <a:pathLst>
              <a:path h="3828639" w="6019033">
                <a:moveTo>
                  <a:pt x="0" y="0"/>
                </a:moveTo>
                <a:lnTo>
                  <a:pt x="6019033" y="0"/>
                </a:lnTo>
                <a:lnTo>
                  <a:pt x="6019033" y="3828639"/>
                </a:lnTo>
                <a:lnTo>
                  <a:pt x="0" y="3828639"/>
                </a:lnTo>
                <a:lnTo>
                  <a:pt x="0" y="0"/>
                </a:lnTo>
                <a:close/>
              </a:path>
            </a:pathLst>
          </a:custGeom>
          <a:blipFill>
            <a:blip r:embed="rId6">
              <a:extLst>
                <a:ext uri="{96DAC541-7B7A-43D3-8B79-37D633B846F1}">
                  <asvg:svgBlip xmlns:asvg="http://schemas.microsoft.com/office/drawing/2016/SVG/main" r:embed="rId7"/>
                </a:ext>
              </a:extLst>
            </a:blip>
            <a:stretch>
              <a:fillRect l="-11839" t="0" r="0" b="0"/>
            </a:stretch>
          </a:blipFill>
        </p:spPr>
      </p:sp>
      <p:sp>
        <p:nvSpPr>
          <p:cNvPr name="Freeform 9" id="9"/>
          <p:cNvSpPr/>
          <p:nvPr/>
        </p:nvSpPr>
        <p:spPr>
          <a:xfrm flipH="true" flipV="false" rot="-161512">
            <a:off x="526490" y="7785957"/>
            <a:ext cx="6019033" cy="3828639"/>
          </a:xfrm>
          <a:custGeom>
            <a:avLst/>
            <a:gdLst/>
            <a:ahLst/>
            <a:cxnLst/>
            <a:rect r="r" b="b" t="t" l="l"/>
            <a:pathLst>
              <a:path h="3828639" w="6019033">
                <a:moveTo>
                  <a:pt x="6019033" y="0"/>
                </a:moveTo>
                <a:lnTo>
                  <a:pt x="0" y="0"/>
                </a:lnTo>
                <a:lnTo>
                  <a:pt x="0" y="3828639"/>
                </a:lnTo>
                <a:lnTo>
                  <a:pt x="6019033" y="3828639"/>
                </a:lnTo>
                <a:lnTo>
                  <a:pt x="6019033" y="0"/>
                </a:lnTo>
                <a:close/>
              </a:path>
            </a:pathLst>
          </a:custGeom>
          <a:blipFill>
            <a:blip r:embed="rId6">
              <a:extLst>
                <a:ext uri="{96DAC541-7B7A-43D3-8B79-37D633B846F1}">
                  <asvg:svgBlip xmlns:asvg="http://schemas.microsoft.com/office/drawing/2016/SVG/main" r:embed="rId7"/>
                </a:ext>
              </a:extLst>
            </a:blip>
            <a:stretch>
              <a:fillRect l="-11839" t="0" r="0" b="0"/>
            </a:stretch>
          </a:blipFill>
        </p:spPr>
      </p:sp>
      <p:sp>
        <p:nvSpPr>
          <p:cNvPr name="TextBox 10" id="10"/>
          <p:cNvSpPr txBox="true"/>
          <p:nvPr/>
        </p:nvSpPr>
        <p:spPr>
          <a:xfrm rot="0">
            <a:off x="2050910" y="8360378"/>
            <a:ext cx="7841903" cy="580390"/>
          </a:xfrm>
          <a:prstGeom prst="rect">
            <a:avLst/>
          </a:prstGeom>
        </p:spPr>
        <p:txBody>
          <a:bodyPr anchor="t" rtlCol="false" tIns="0" lIns="0" bIns="0" rIns="0">
            <a:spAutoFit/>
          </a:bodyPr>
          <a:lstStyle/>
          <a:p>
            <a:pPr algn="ctr">
              <a:lnSpc>
                <a:spcPts val="4759"/>
              </a:lnSpc>
            </a:pPr>
            <a:r>
              <a:rPr lang="en-US" sz="3399">
                <a:solidFill>
                  <a:srgbClr val="FFFFFF"/>
                </a:solidFill>
                <a:latin typeface="Hero Bold"/>
                <a:ea typeface="Hero Bold"/>
                <a:cs typeface="Hero Bold"/>
                <a:sym typeface="Hero Bold"/>
              </a:rPr>
              <a:t>by: Marco Pacad &amp; Marthena Padayao</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9905" y="376073"/>
            <a:ext cx="17379440" cy="9553234"/>
            <a:chOff x="0" y="0"/>
            <a:chExt cx="23172587" cy="12737646"/>
          </a:xfrm>
        </p:grpSpPr>
        <p:sp>
          <p:nvSpPr>
            <p:cNvPr name="Freeform 3" id="3"/>
            <p:cNvSpPr/>
            <p:nvPr/>
          </p:nvSpPr>
          <p:spPr>
            <a:xfrm flipH="false" flipV="false" rot="-10800000">
              <a:off x="0" y="0"/>
              <a:ext cx="18190091" cy="12737646"/>
            </a:xfrm>
            <a:custGeom>
              <a:avLst/>
              <a:gdLst/>
              <a:ahLst/>
              <a:cxnLst/>
              <a:rect r="r" b="b" t="t" l="l"/>
              <a:pathLst>
                <a:path h="12737646" w="18190091">
                  <a:moveTo>
                    <a:pt x="0" y="0"/>
                  </a:moveTo>
                  <a:lnTo>
                    <a:pt x="18190091" y="0"/>
                  </a:lnTo>
                  <a:lnTo>
                    <a:pt x="18190091" y="12737646"/>
                  </a:lnTo>
                  <a:lnTo>
                    <a:pt x="0" y="12737646"/>
                  </a:lnTo>
                  <a:lnTo>
                    <a:pt x="0" y="0"/>
                  </a:lnTo>
                  <a:close/>
                </a:path>
              </a:pathLst>
            </a:custGeom>
            <a:blipFill>
              <a:blip r:embed="rId2">
                <a:extLst>
                  <a:ext uri="{96DAC541-7B7A-43D3-8B79-37D633B846F1}">
                    <asvg:svgBlip xmlns:asvg="http://schemas.microsoft.com/office/drawing/2016/SVG/main" r:embed="rId3"/>
                  </a:ext>
                </a:extLst>
              </a:blip>
              <a:stretch>
                <a:fillRect l="-94" t="0" r="-94" b="0"/>
              </a:stretch>
            </a:blipFill>
          </p:spPr>
        </p:sp>
        <p:sp>
          <p:nvSpPr>
            <p:cNvPr name="Freeform 4" id="4"/>
            <p:cNvSpPr/>
            <p:nvPr/>
          </p:nvSpPr>
          <p:spPr>
            <a:xfrm flipH="false" flipV="false" rot="-10800000">
              <a:off x="4982496" y="0"/>
              <a:ext cx="18190091" cy="12737646"/>
            </a:xfrm>
            <a:custGeom>
              <a:avLst/>
              <a:gdLst/>
              <a:ahLst/>
              <a:cxnLst/>
              <a:rect r="r" b="b" t="t" l="l"/>
              <a:pathLst>
                <a:path h="12737646" w="18190091">
                  <a:moveTo>
                    <a:pt x="0" y="0"/>
                  </a:moveTo>
                  <a:lnTo>
                    <a:pt x="18190091" y="0"/>
                  </a:lnTo>
                  <a:lnTo>
                    <a:pt x="18190091" y="12737646"/>
                  </a:lnTo>
                  <a:lnTo>
                    <a:pt x="0" y="12737646"/>
                  </a:lnTo>
                  <a:lnTo>
                    <a:pt x="0" y="0"/>
                  </a:lnTo>
                  <a:close/>
                </a:path>
              </a:pathLst>
            </a:custGeom>
            <a:blipFill>
              <a:blip r:embed="rId2">
                <a:extLst>
                  <a:ext uri="{96DAC541-7B7A-43D3-8B79-37D633B846F1}">
                    <asvg:svgBlip xmlns:asvg="http://schemas.microsoft.com/office/drawing/2016/SVG/main" r:embed="rId3"/>
                  </a:ext>
                </a:extLst>
              </a:blip>
              <a:stretch>
                <a:fillRect l="-94" t="0" r="-94" b="0"/>
              </a:stretch>
            </a:blipFill>
          </p:spPr>
        </p:sp>
      </p:grpSp>
      <p:sp>
        <p:nvSpPr>
          <p:cNvPr name="Freeform 5" id="5"/>
          <p:cNvSpPr/>
          <p:nvPr/>
        </p:nvSpPr>
        <p:spPr>
          <a:xfrm flipH="false" flipV="false" rot="0">
            <a:off x="1028700" y="1404454"/>
            <a:ext cx="8263085" cy="7478092"/>
          </a:xfrm>
          <a:custGeom>
            <a:avLst/>
            <a:gdLst/>
            <a:ahLst/>
            <a:cxnLst/>
            <a:rect r="r" b="b" t="t" l="l"/>
            <a:pathLst>
              <a:path h="7478092" w="8263085">
                <a:moveTo>
                  <a:pt x="0" y="0"/>
                </a:moveTo>
                <a:lnTo>
                  <a:pt x="8263085" y="0"/>
                </a:lnTo>
                <a:lnTo>
                  <a:pt x="8263085" y="7478092"/>
                </a:lnTo>
                <a:lnTo>
                  <a:pt x="0" y="74780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7970701" y="3115446"/>
            <a:ext cx="9288599" cy="4867910"/>
          </a:xfrm>
          <a:prstGeom prst="rect">
            <a:avLst/>
          </a:prstGeom>
        </p:spPr>
        <p:txBody>
          <a:bodyPr anchor="t" rtlCol="false" tIns="0" lIns="0" bIns="0" rIns="0">
            <a:spAutoFit/>
          </a:bodyPr>
          <a:lstStyle/>
          <a:p>
            <a:pPr algn="l" marL="798828" indent="-399414" lvl="1">
              <a:lnSpc>
                <a:spcPts val="4809"/>
              </a:lnSpc>
              <a:buFont typeface="Arial"/>
              <a:buChar char="•"/>
            </a:pPr>
            <a:r>
              <a:rPr lang="en-US" sz="3699">
                <a:solidFill>
                  <a:srgbClr val="FFFFFF"/>
                </a:solidFill>
                <a:latin typeface="Hero"/>
                <a:ea typeface="Hero"/>
                <a:cs typeface="Hero"/>
                <a:sym typeface="Hero"/>
              </a:rPr>
              <a:t>Problem Statement</a:t>
            </a:r>
          </a:p>
          <a:p>
            <a:pPr algn="l" marL="798828" indent="-399414" lvl="1">
              <a:lnSpc>
                <a:spcPts val="4809"/>
              </a:lnSpc>
              <a:buFont typeface="Arial"/>
              <a:buChar char="•"/>
            </a:pPr>
            <a:r>
              <a:rPr lang="en-US" sz="3699">
                <a:solidFill>
                  <a:srgbClr val="FFFFFF"/>
                </a:solidFill>
                <a:latin typeface="Hero"/>
                <a:ea typeface="Hero"/>
                <a:cs typeface="Hero"/>
                <a:sym typeface="Hero"/>
              </a:rPr>
              <a:t>Project Description</a:t>
            </a:r>
          </a:p>
          <a:p>
            <a:pPr algn="l" marL="798828" indent="-399414" lvl="1">
              <a:lnSpc>
                <a:spcPts val="4809"/>
              </a:lnSpc>
              <a:buFont typeface="Arial"/>
              <a:buChar char="•"/>
            </a:pPr>
            <a:r>
              <a:rPr lang="en-US" sz="3699">
                <a:solidFill>
                  <a:srgbClr val="FFFFFF"/>
                </a:solidFill>
                <a:latin typeface="Hero"/>
                <a:ea typeface="Hero"/>
                <a:cs typeface="Hero"/>
                <a:sym typeface="Hero"/>
              </a:rPr>
              <a:t>Objectives</a:t>
            </a:r>
          </a:p>
          <a:p>
            <a:pPr algn="l" marL="798828" indent="-399414" lvl="1">
              <a:lnSpc>
                <a:spcPts val="4809"/>
              </a:lnSpc>
              <a:buFont typeface="Arial"/>
              <a:buChar char="•"/>
            </a:pPr>
            <a:r>
              <a:rPr lang="en-US" sz="3699">
                <a:solidFill>
                  <a:srgbClr val="FFFFFF"/>
                </a:solidFill>
                <a:latin typeface="Hero"/>
                <a:ea typeface="Hero"/>
                <a:cs typeface="Hero"/>
                <a:sym typeface="Hero"/>
              </a:rPr>
              <a:t>Planned features</a:t>
            </a:r>
          </a:p>
          <a:p>
            <a:pPr algn="l" marL="798828" indent="-399414" lvl="1">
              <a:lnSpc>
                <a:spcPts val="4809"/>
              </a:lnSpc>
              <a:buFont typeface="Arial"/>
              <a:buChar char="•"/>
            </a:pPr>
            <a:r>
              <a:rPr lang="en-US" sz="3699">
                <a:solidFill>
                  <a:srgbClr val="FFFFFF"/>
                </a:solidFill>
                <a:latin typeface="Hero"/>
                <a:ea typeface="Hero"/>
                <a:cs typeface="Hero"/>
                <a:sym typeface="Hero"/>
              </a:rPr>
              <a:t>Planned Inputs &amp; Outputs</a:t>
            </a:r>
          </a:p>
          <a:p>
            <a:pPr algn="l" marL="798828" indent="-399414" lvl="1">
              <a:lnSpc>
                <a:spcPts val="4809"/>
              </a:lnSpc>
              <a:buFont typeface="Arial"/>
              <a:buChar char="•"/>
            </a:pPr>
            <a:r>
              <a:rPr lang="en-US" sz="3699">
                <a:solidFill>
                  <a:srgbClr val="FFFFFF"/>
                </a:solidFill>
                <a:latin typeface="Hero"/>
                <a:ea typeface="Hero"/>
                <a:cs typeface="Hero"/>
                <a:sym typeface="Hero"/>
              </a:rPr>
              <a:t>Steps on How to Run the Program</a:t>
            </a:r>
          </a:p>
          <a:p>
            <a:pPr algn="l" marL="798828" indent="-399414" lvl="1">
              <a:lnSpc>
                <a:spcPts val="4809"/>
              </a:lnSpc>
              <a:buFont typeface="Arial"/>
              <a:buChar char="•"/>
            </a:pPr>
            <a:r>
              <a:rPr lang="en-US" sz="3699">
                <a:solidFill>
                  <a:srgbClr val="FFFFFF"/>
                </a:solidFill>
                <a:latin typeface="Hero"/>
                <a:ea typeface="Hero"/>
                <a:cs typeface="Hero"/>
                <a:sym typeface="Hero"/>
              </a:rPr>
              <a:t>Flowchart</a:t>
            </a:r>
          </a:p>
          <a:p>
            <a:pPr algn="l" marL="798828" indent="-399414" lvl="1">
              <a:lnSpc>
                <a:spcPts val="4809"/>
              </a:lnSpc>
              <a:buFont typeface="Arial"/>
              <a:buChar char="•"/>
            </a:pPr>
            <a:r>
              <a:rPr lang="en-US" sz="3699">
                <a:solidFill>
                  <a:srgbClr val="FFFFFF"/>
                </a:solidFill>
                <a:latin typeface="Hero"/>
                <a:ea typeface="Hero"/>
                <a:cs typeface="Hero"/>
                <a:sym typeface="Hero"/>
              </a:rPr>
              <a:t>Example Output</a:t>
            </a:r>
          </a:p>
        </p:txBody>
      </p:sp>
      <p:sp>
        <p:nvSpPr>
          <p:cNvPr name="TextBox 7" id="7"/>
          <p:cNvSpPr txBox="true"/>
          <p:nvPr/>
        </p:nvSpPr>
        <p:spPr>
          <a:xfrm rot="0">
            <a:off x="8296876" y="1635092"/>
            <a:ext cx="9198060" cy="1340062"/>
          </a:xfrm>
          <a:prstGeom prst="rect">
            <a:avLst/>
          </a:prstGeom>
        </p:spPr>
        <p:txBody>
          <a:bodyPr anchor="t" rtlCol="false" tIns="0" lIns="0" bIns="0" rIns="0">
            <a:spAutoFit/>
          </a:bodyPr>
          <a:lstStyle/>
          <a:p>
            <a:pPr algn="l">
              <a:lnSpc>
                <a:spcPts val="10471"/>
              </a:lnSpc>
            </a:pPr>
            <a:r>
              <a:rPr lang="en-US" sz="8949">
                <a:solidFill>
                  <a:srgbClr val="FFFFFF"/>
                </a:solidFill>
                <a:latin typeface="Norwester"/>
                <a:ea typeface="Norwester"/>
                <a:cs typeface="Norwester"/>
                <a:sym typeface="Norwester"/>
              </a:rPr>
              <a:t>Table of Contents</a:t>
            </a:r>
          </a:p>
        </p:txBody>
      </p:sp>
    </p:spTree>
  </p:cSld>
  <p:clrMapOvr>
    <a:masterClrMapping/>
  </p:clrMapOvr>
  <p:transition spd="fast">
    <p:push dir="l"/>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9905" y="376073"/>
            <a:ext cx="17379440" cy="9553234"/>
            <a:chOff x="0" y="0"/>
            <a:chExt cx="23172587" cy="12737646"/>
          </a:xfrm>
        </p:grpSpPr>
        <p:sp>
          <p:nvSpPr>
            <p:cNvPr name="Freeform 3" id="3"/>
            <p:cNvSpPr/>
            <p:nvPr/>
          </p:nvSpPr>
          <p:spPr>
            <a:xfrm flipH="false" flipV="false" rot="-10800000">
              <a:off x="0" y="0"/>
              <a:ext cx="18190091" cy="12737646"/>
            </a:xfrm>
            <a:custGeom>
              <a:avLst/>
              <a:gdLst/>
              <a:ahLst/>
              <a:cxnLst/>
              <a:rect r="r" b="b" t="t" l="l"/>
              <a:pathLst>
                <a:path h="12737646" w="18190091">
                  <a:moveTo>
                    <a:pt x="0" y="0"/>
                  </a:moveTo>
                  <a:lnTo>
                    <a:pt x="18190091" y="0"/>
                  </a:lnTo>
                  <a:lnTo>
                    <a:pt x="18190091" y="12737646"/>
                  </a:lnTo>
                  <a:lnTo>
                    <a:pt x="0" y="12737646"/>
                  </a:lnTo>
                  <a:lnTo>
                    <a:pt x="0" y="0"/>
                  </a:lnTo>
                  <a:close/>
                </a:path>
              </a:pathLst>
            </a:custGeom>
            <a:blipFill>
              <a:blip r:embed="rId2">
                <a:extLst>
                  <a:ext uri="{96DAC541-7B7A-43D3-8B79-37D633B846F1}">
                    <asvg:svgBlip xmlns:asvg="http://schemas.microsoft.com/office/drawing/2016/SVG/main" r:embed="rId3"/>
                  </a:ext>
                </a:extLst>
              </a:blip>
              <a:stretch>
                <a:fillRect l="-94" t="0" r="-94" b="0"/>
              </a:stretch>
            </a:blipFill>
          </p:spPr>
        </p:sp>
        <p:sp>
          <p:nvSpPr>
            <p:cNvPr name="Freeform 4" id="4"/>
            <p:cNvSpPr/>
            <p:nvPr/>
          </p:nvSpPr>
          <p:spPr>
            <a:xfrm flipH="false" flipV="false" rot="-10800000">
              <a:off x="4982496" y="0"/>
              <a:ext cx="18190091" cy="12737646"/>
            </a:xfrm>
            <a:custGeom>
              <a:avLst/>
              <a:gdLst/>
              <a:ahLst/>
              <a:cxnLst/>
              <a:rect r="r" b="b" t="t" l="l"/>
              <a:pathLst>
                <a:path h="12737646" w="18190091">
                  <a:moveTo>
                    <a:pt x="0" y="0"/>
                  </a:moveTo>
                  <a:lnTo>
                    <a:pt x="18190091" y="0"/>
                  </a:lnTo>
                  <a:lnTo>
                    <a:pt x="18190091" y="12737646"/>
                  </a:lnTo>
                  <a:lnTo>
                    <a:pt x="0" y="12737646"/>
                  </a:lnTo>
                  <a:lnTo>
                    <a:pt x="0" y="0"/>
                  </a:lnTo>
                  <a:close/>
                </a:path>
              </a:pathLst>
            </a:custGeom>
            <a:blipFill>
              <a:blip r:embed="rId2">
                <a:extLst>
                  <a:ext uri="{96DAC541-7B7A-43D3-8B79-37D633B846F1}">
                    <asvg:svgBlip xmlns:asvg="http://schemas.microsoft.com/office/drawing/2016/SVG/main" r:embed="rId3"/>
                  </a:ext>
                </a:extLst>
              </a:blip>
              <a:stretch>
                <a:fillRect l="-94" t="0" r="-94" b="0"/>
              </a:stretch>
            </a:blipFill>
          </p:spPr>
        </p:sp>
      </p:grpSp>
      <p:sp>
        <p:nvSpPr>
          <p:cNvPr name="Freeform 5" id="5"/>
          <p:cNvSpPr/>
          <p:nvPr/>
        </p:nvSpPr>
        <p:spPr>
          <a:xfrm flipH="false" flipV="false" rot="0">
            <a:off x="-3279901" y="1028700"/>
            <a:ext cx="7468362" cy="8229600"/>
          </a:xfrm>
          <a:custGeom>
            <a:avLst/>
            <a:gdLst/>
            <a:ahLst/>
            <a:cxnLst/>
            <a:rect r="r" b="b" t="t" l="l"/>
            <a:pathLst>
              <a:path h="8229600" w="7468362">
                <a:moveTo>
                  <a:pt x="0" y="0"/>
                </a:moveTo>
                <a:lnTo>
                  <a:pt x="7468362" y="0"/>
                </a:lnTo>
                <a:lnTo>
                  <a:pt x="7468362" y="8229600"/>
                </a:lnTo>
                <a:lnTo>
                  <a:pt x="0" y="82296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3939082" y="1500975"/>
            <a:ext cx="10409835" cy="1566544"/>
          </a:xfrm>
          <a:prstGeom prst="rect">
            <a:avLst/>
          </a:prstGeom>
        </p:spPr>
        <p:txBody>
          <a:bodyPr anchor="t" rtlCol="false" tIns="0" lIns="0" bIns="0" rIns="0">
            <a:spAutoFit/>
          </a:bodyPr>
          <a:lstStyle/>
          <a:p>
            <a:pPr algn="ctr">
              <a:lnSpc>
                <a:spcPts val="12880"/>
              </a:lnSpc>
            </a:pPr>
            <a:r>
              <a:rPr lang="en-US" sz="9200">
                <a:solidFill>
                  <a:srgbClr val="FFFFFF"/>
                </a:solidFill>
                <a:latin typeface="Norwester"/>
                <a:ea typeface="Norwester"/>
                <a:cs typeface="Norwester"/>
                <a:sym typeface="Norwester"/>
              </a:rPr>
              <a:t>Problem Statement</a:t>
            </a:r>
          </a:p>
        </p:txBody>
      </p:sp>
      <p:sp>
        <p:nvSpPr>
          <p:cNvPr name="Freeform 7" id="7"/>
          <p:cNvSpPr/>
          <p:nvPr/>
        </p:nvSpPr>
        <p:spPr>
          <a:xfrm flipH="false" flipV="false" rot="0">
            <a:off x="14099539" y="1037890"/>
            <a:ext cx="7468362" cy="8229600"/>
          </a:xfrm>
          <a:custGeom>
            <a:avLst/>
            <a:gdLst/>
            <a:ahLst/>
            <a:cxnLst/>
            <a:rect r="r" b="b" t="t" l="l"/>
            <a:pathLst>
              <a:path h="8229600" w="7468362">
                <a:moveTo>
                  <a:pt x="0" y="0"/>
                </a:moveTo>
                <a:lnTo>
                  <a:pt x="7468362" y="0"/>
                </a:lnTo>
                <a:lnTo>
                  <a:pt x="7468362" y="8229600"/>
                </a:lnTo>
                <a:lnTo>
                  <a:pt x="0" y="82296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2321664" y="3581930"/>
            <a:ext cx="13644672" cy="4592320"/>
          </a:xfrm>
          <a:prstGeom prst="rect">
            <a:avLst/>
          </a:prstGeom>
        </p:spPr>
        <p:txBody>
          <a:bodyPr anchor="t" rtlCol="false" tIns="0" lIns="0" bIns="0" rIns="0">
            <a:spAutoFit/>
          </a:bodyPr>
          <a:lstStyle/>
          <a:p>
            <a:pPr algn="ctr">
              <a:lnSpc>
                <a:spcPts val="7279"/>
              </a:lnSpc>
            </a:pPr>
            <a:r>
              <a:rPr lang="en-US" sz="5199">
                <a:solidFill>
                  <a:srgbClr val="FFFFFF"/>
                </a:solidFill>
                <a:latin typeface="Hero Bold"/>
                <a:ea typeface="Hero Bold"/>
                <a:cs typeface="Hero Bold"/>
                <a:sym typeface="Hero Bold"/>
              </a:rPr>
              <a:t>Some students struggle with focusing on studying/doing their requirements by getting distracted with using social media apps or games. This leads to worsening their study habits and getting low grades.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9905" y="376073"/>
            <a:ext cx="17379440" cy="9553234"/>
            <a:chOff x="0" y="0"/>
            <a:chExt cx="23172587" cy="12737646"/>
          </a:xfrm>
        </p:grpSpPr>
        <p:sp>
          <p:nvSpPr>
            <p:cNvPr name="Freeform 3" id="3"/>
            <p:cNvSpPr/>
            <p:nvPr/>
          </p:nvSpPr>
          <p:spPr>
            <a:xfrm flipH="false" flipV="false" rot="-10800000">
              <a:off x="0" y="0"/>
              <a:ext cx="18190091" cy="12737646"/>
            </a:xfrm>
            <a:custGeom>
              <a:avLst/>
              <a:gdLst/>
              <a:ahLst/>
              <a:cxnLst/>
              <a:rect r="r" b="b" t="t" l="l"/>
              <a:pathLst>
                <a:path h="12737646" w="18190091">
                  <a:moveTo>
                    <a:pt x="0" y="0"/>
                  </a:moveTo>
                  <a:lnTo>
                    <a:pt x="18190091" y="0"/>
                  </a:lnTo>
                  <a:lnTo>
                    <a:pt x="18190091" y="12737646"/>
                  </a:lnTo>
                  <a:lnTo>
                    <a:pt x="0" y="12737646"/>
                  </a:lnTo>
                  <a:lnTo>
                    <a:pt x="0" y="0"/>
                  </a:lnTo>
                  <a:close/>
                </a:path>
              </a:pathLst>
            </a:custGeom>
            <a:blipFill>
              <a:blip r:embed="rId2">
                <a:extLst>
                  <a:ext uri="{96DAC541-7B7A-43D3-8B79-37D633B846F1}">
                    <asvg:svgBlip xmlns:asvg="http://schemas.microsoft.com/office/drawing/2016/SVG/main" r:embed="rId3"/>
                  </a:ext>
                </a:extLst>
              </a:blip>
              <a:stretch>
                <a:fillRect l="-94" t="0" r="-94" b="0"/>
              </a:stretch>
            </a:blipFill>
          </p:spPr>
        </p:sp>
        <p:sp>
          <p:nvSpPr>
            <p:cNvPr name="Freeform 4" id="4"/>
            <p:cNvSpPr/>
            <p:nvPr/>
          </p:nvSpPr>
          <p:spPr>
            <a:xfrm flipH="false" flipV="false" rot="-10800000">
              <a:off x="4982496" y="0"/>
              <a:ext cx="18190091" cy="12737646"/>
            </a:xfrm>
            <a:custGeom>
              <a:avLst/>
              <a:gdLst/>
              <a:ahLst/>
              <a:cxnLst/>
              <a:rect r="r" b="b" t="t" l="l"/>
              <a:pathLst>
                <a:path h="12737646" w="18190091">
                  <a:moveTo>
                    <a:pt x="0" y="0"/>
                  </a:moveTo>
                  <a:lnTo>
                    <a:pt x="18190091" y="0"/>
                  </a:lnTo>
                  <a:lnTo>
                    <a:pt x="18190091" y="12737646"/>
                  </a:lnTo>
                  <a:lnTo>
                    <a:pt x="0" y="12737646"/>
                  </a:lnTo>
                  <a:lnTo>
                    <a:pt x="0" y="0"/>
                  </a:lnTo>
                  <a:close/>
                </a:path>
              </a:pathLst>
            </a:custGeom>
            <a:blipFill>
              <a:blip r:embed="rId2">
                <a:extLst>
                  <a:ext uri="{96DAC541-7B7A-43D3-8B79-37D633B846F1}">
                    <asvg:svgBlip xmlns:asvg="http://schemas.microsoft.com/office/drawing/2016/SVG/main" r:embed="rId3"/>
                  </a:ext>
                </a:extLst>
              </a:blip>
              <a:stretch>
                <a:fillRect l="-94" t="0" r="-94" b="0"/>
              </a:stretch>
            </a:blipFill>
          </p:spPr>
        </p:sp>
      </p:grpSp>
      <p:sp>
        <p:nvSpPr>
          <p:cNvPr name="Freeform 5" id="5"/>
          <p:cNvSpPr/>
          <p:nvPr/>
        </p:nvSpPr>
        <p:spPr>
          <a:xfrm flipH="false" flipV="false" rot="1981597">
            <a:off x="15634571" y="7072690"/>
            <a:ext cx="2608815" cy="3604581"/>
          </a:xfrm>
          <a:custGeom>
            <a:avLst/>
            <a:gdLst/>
            <a:ahLst/>
            <a:cxnLst/>
            <a:rect r="r" b="b" t="t" l="l"/>
            <a:pathLst>
              <a:path h="3604581" w="2608815">
                <a:moveTo>
                  <a:pt x="0" y="0"/>
                </a:moveTo>
                <a:lnTo>
                  <a:pt x="2608815" y="0"/>
                </a:lnTo>
                <a:lnTo>
                  <a:pt x="2608815" y="3604581"/>
                </a:lnTo>
                <a:lnTo>
                  <a:pt x="0" y="360458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84868" y="1028700"/>
            <a:ext cx="2227136" cy="4114800"/>
          </a:xfrm>
          <a:custGeom>
            <a:avLst/>
            <a:gdLst/>
            <a:ahLst/>
            <a:cxnLst/>
            <a:rect r="r" b="b" t="t" l="l"/>
            <a:pathLst>
              <a:path h="4114800" w="2227136">
                <a:moveTo>
                  <a:pt x="0" y="0"/>
                </a:moveTo>
                <a:lnTo>
                  <a:pt x="2227136" y="0"/>
                </a:lnTo>
                <a:lnTo>
                  <a:pt x="2227136"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2142268" y="-1742560"/>
            <a:ext cx="2812695" cy="4828660"/>
          </a:xfrm>
          <a:custGeom>
            <a:avLst/>
            <a:gdLst/>
            <a:ahLst/>
            <a:cxnLst/>
            <a:rect r="r" b="b" t="t" l="l"/>
            <a:pathLst>
              <a:path h="4828660" w="2812695">
                <a:moveTo>
                  <a:pt x="0" y="0"/>
                </a:moveTo>
                <a:lnTo>
                  <a:pt x="2812694" y="0"/>
                </a:lnTo>
                <a:lnTo>
                  <a:pt x="2812694" y="4828660"/>
                </a:lnTo>
                <a:lnTo>
                  <a:pt x="0" y="482866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8" id="8"/>
          <p:cNvSpPr txBox="true"/>
          <p:nvPr/>
        </p:nvSpPr>
        <p:spPr>
          <a:xfrm rot="0">
            <a:off x="1903041" y="1437182"/>
            <a:ext cx="14453168" cy="2140666"/>
          </a:xfrm>
          <a:prstGeom prst="rect">
            <a:avLst/>
          </a:prstGeom>
        </p:spPr>
        <p:txBody>
          <a:bodyPr anchor="t" rtlCol="false" tIns="0" lIns="0" bIns="0" rIns="0">
            <a:spAutoFit/>
          </a:bodyPr>
          <a:lstStyle/>
          <a:p>
            <a:pPr algn="ctr">
              <a:lnSpc>
                <a:spcPts val="17477"/>
              </a:lnSpc>
            </a:pPr>
            <a:r>
              <a:rPr lang="en-US" sz="12483">
                <a:solidFill>
                  <a:srgbClr val="FFFFFF"/>
                </a:solidFill>
                <a:latin typeface="Norwester"/>
                <a:ea typeface="Norwester"/>
                <a:cs typeface="Norwester"/>
                <a:sym typeface="Norwester"/>
              </a:rPr>
              <a:t>Project Description</a:t>
            </a:r>
          </a:p>
        </p:txBody>
      </p:sp>
      <p:sp>
        <p:nvSpPr>
          <p:cNvPr name="TextBox 9" id="9"/>
          <p:cNvSpPr txBox="true"/>
          <p:nvPr/>
        </p:nvSpPr>
        <p:spPr>
          <a:xfrm rot="0">
            <a:off x="2272475" y="3579379"/>
            <a:ext cx="13743050" cy="5645690"/>
          </a:xfrm>
          <a:prstGeom prst="rect">
            <a:avLst/>
          </a:prstGeom>
        </p:spPr>
        <p:txBody>
          <a:bodyPr anchor="t" rtlCol="false" tIns="0" lIns="0" bIns="0" rIns="0">
            <a:spAutoFit/>
          </a:bodyPr>
          <a:lstStyle/>
          <a:p>
            <a:pPr algn="ctr">
              <a:lnSpc>
                <a:spcPts val="6445"/>
              </a:lnSpc>
            </a:pPr>
            <a:r>
              <a:rPr lang="en-US" sz="4603">
                <a:solidFill>
                  <a:srgbClr val="FFFFFF"/>
                </a:solidFill>
                <a:latin typeface="Hero Bold"/>
                <a:ea typeface="Hero Bold"/>
                <a:cs typeface="Hero Bold"/>
                <a:sym typeface="Hero Bold"/>
              </a:rPr>
              <a:t>The project “Screentime to Studytime” focuses on helping students reduce distractions from social media while studying for quizzes and exams. It aims to turn wasted screen time into productive study sessions through simple strategies and tools. This encourages better focus, discipline, and academic success.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9905" y="376073"/>
            <a:ext cx="17379440" cy="9553234"/>
            <a:chOff x="0" y="0"/>
            <a:chExt cx="23172587" cy="12737646"/>
          </a:xfrm>
        </p:grpSpPr>
        <p:sp>
          <p:nvSpPr>
            <p:cNvPr name="Freeform 3" id="3"/>
            <p:cNvSpPr/>
            <p:nvPr/>
          </p:nvSpPr>
          <p:spPr>
            <a:xfrm flipH="false" flipV="false" rot="-10800000">
              <a:off x="0" y="0"/>
              <a:ext cx="18190091" cy="12737646"/>
            </a:xfrm>
            <a:custGeom>
              <a:avLst/>
              <a:gdLst/>
              <a:ahLst/>
              <a:cxnLst/>
              <a:rect r="r" b="b" t="t" l="l"/>
              <a:pathLst>
                <a:path h="12737646" w="18190091">
                  <a:moveTo>
                    <a:pt x="0" y="0"/>
                  </a:moveTo>
                  <a:lnTo>
                    <a:pt x="18190091" y="0"/>
                  </a:lnTo>
                  <a:lnTo>
                    <a:pt x="18190091" y="12737646"/>
                  </a:lnTo>
                  <a:lnTo>
                    <a:pt x="0" y="12737646"/>
                  </a:lnTo>
                  <a:lnTo>
                    <a:pt x="0" y="0"/>
                  </a:lnTo>
                  <a:close/>
                </a:path>
              </a:pathLst>
            </a:custGeom>
            <a:blipFill>
              <a:blip r:embed="rId2">
                <a:extLst>
                  <a:ext uri="{96DAC541-7B7A-43D3-8B79-37D633B846F1}">
                    <asvg:svgBlip xmlns:asvg="http://schemas.microsoft.com/office/drawing/2016/SVG/main" r:embed="rId3"/>
                  </a:ext>
                </a:extLst>
              </a:blip>
              <a:stretch>
                <a:fillRect l="-94" t="0" r="-94" b="0"/>
              </a:stretch>
            </a:blipFill>
          </p:spPr>
        </p:sp>
        <p:sp>
          <p:nvSpPr>
            <p:cNvPr name="Freeform 4" id="4"/>
            <p:cNvSpPr/>
            <p:nvPr/>
          </p:nvSpPr>
          <p:spPr>
            <a:xfrm flipH="false" flipV="false" rot="-10800000">
              <a:off x="4982496" y="0"/>
              <a:ext cx="18190091" cy="12737646"/>
            </a:xfrm>
            <a:custGeom>
              <a:avLst/>
              <a:gdLst/>
              <a:ahLst/>
              <a:cxnLst/>
              <a:rect r="r" b="b" t="t" l="l"/>
              <a:pathLst>
                <a:path h="12737646" w="18190091">
                  <a:moveTo>
                    <a:pt x="0" y="0"/>
                  </a:moveTo>
                  <a:lnTo>
                    <a:pt x="18190091" y="0"/>
                  </a:lnTo>
                  <a:lnTo>
                    <a:pt x="18190091" y="12737646"/>
                  </a:lnTo>
                  <a:lnTo>
                    <a:pt x="0" y="12737646"/>
                  </a:lnTo>
                  <a:lnTo>
                    <a:pt x="0" y="0"/>
                  </a:lnTo>
                  <a:close/>
                </a:path>
              </a:pathLst>
            </a:custGeom>
            <a:blipFill>
              <a:blip r:embed="rId2">
                <a:extLst>
                  <a:ext uri="{96DAC541-7B7A-43D3-8B79-37D633B846F1}">
                    <asvg:svgBlip xmlns:asvg="http://schemas.microsoft.com/office/drawing/2016/SVG/main" r:embed="rId3"/>
                  </a:ext>
                </a:extLst>
              </a:blip>
              <a:stretch>
                <a:fillRect l="-94" t="0" r="-94" b="0"/>
              </a:stretch>
            </a:blipFill>
          </p:spPr>
        </p:sp>
      </p:grpSp>
      <p:sp>
        <p:nvSpPr>
          <p:cNvPr name="TextBox 5" id="5"/>
          <p:cNvSpPr txBox="true"/>
          <p:nvPr/>
        </p:nvSpPr>
        <p:spPr>
          <a:xfrm rot="0">
            <a:off x="1028700" y="3724571"/>
            <a:ext cx="9756064" cy="4455795"/>
          </a:xfrm>
          <a:prstGeom prst="rect">
            <a:avLst/>
          </a:prstGeom>
        </p:spPr>
        <p:txBody>
          <a:bodyPr anchor="t" rtlCol="false" tIns="0" lIns="0" bIns="0" rIns="0">
            <a:spAutoFit/>
          </a:bodyPr>
          <a:lstStyle/>
          <a:p>
            <a:pPr algn="l">
              <a:lnSpc>
                <a:spcPts val="5069"/>
              </a:lnSpc>
            </a:pPr>
            <a:r>
              <a:rPr lang="en-US" sz="3899">
                <a:solidFill>
                  <a:srgbClr val="FFFFFF"/>
                </a:solidFill>
                <a:latin typeface="Hero Bold"/>
                <a:ea typeface="Hero Bold"/>
                <a:cs typeface="Hero Bold"/>
                <a:sym typeface="Hero Bold"/>
              </a:rPr>
              <a:t>• Help students focus studying by having a pomodoro timer, which improves focus and prevents burnout, and a website blocker for no distractions.</a:t>
            </a:r>
          </a:p>
          <a:p>
            <a:pPr algn="l">
              <a:lnSpc>
                <a:spcPts val="5069"/>
              </a:lnSpc>
            </a:pPr>
          </a:p>
          <a:p>
            <a:pPr algn="l">
              <a:lnSpc>
                <a:spcPts val="5069"/>
              </a:lnSpc>
            </a:pPr>
            <a:r>
              <a:rPr lang="en-US" sz="3899">
                <a:solidFill>
                  <a:srgbClr val="FFFFFF"/>
                </a:solidFill>
                <a:latin typeface="Hero Bold"/>
                <a:ea typeface="Hero Bold"/>
                <a:cs typeface="Hero Bold"/>
                <a:sym typeface="Hero Bold"/>
              </a:rPr>
              <a:t>• Motivate students by giving them motivation and rewards.</a:t>
            </a:r>
          </a:p>
        </p:txBody>
      </p:sp>
      <p:sp>
        <p:nvSpPr>
          <p:cNvPr name="Freeform 6" id="6"/>
          <p:cNvSpPr/>
          <p:nvPr/>
        </p:nvSpPr>
        <p:spPr>
          <a:xfrm flipH="false" flipV="false" rot="0">
            <a:off x="12319001" y="856141"/>
            <a:ext cx="7352821" cy="8574718"/>
          </a:xfrm>
          <a:custGeom>
            <a:avLst/>
            <a:gdLst/>
            <a:ahLst/>
            <a:cxnLst/>
            <a:rect r="r" b="b" t="t" l="l"/>
            <a:pathLst>
              <a:path h="8574718" w="7352821">
                <a:moveTo>
                  <a:pt x="0" y="0"/>
                </a:moveTo>
                <a:lnTo>
                  <a:pt x="7352821" y="0"/>
                </a:lnTo>
                <a:lnTo>
                  <a:pt x="7352821" y="8574718"/>
                </a:lnTo>
                <a:lnTo>
                  <a:pt x="0" y="85747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028700" y="1031895"/>
            <a:ext cx="11130515" cy="2033921"/>
          </a:xfrm>
          <a:prstGeom prst="rect">
            <a:avLst/>
          </a:prstGeom>
        </p:spPr>
        <p:txBody>
          <a:bodyPr anchor="t" rtlCol="false" tIns="0" lIns="0" bIns="0" rIns="0">
            <a:spAutoFit/>
          </a:bodyPr>
          <a:lstStyle/>
          <a:p>
            <a:pPr algn="l">
              <a:lnSpc>
                <a:spcPts val="16519"/>
              </a:lnSpc>
            </a:pPr>
            <a:r>
              <a:rPr lang="en-US" sz="11799">
                <a:solidFill>
                  <a:srgbClr val="FFFFFF"/>
                </a:solidFill>
                <a:latin typeface="Norwester"/>
                <a:ea typeface="Norwester"/>
                <a:cs typeface="Norwester"/>
                <a:sym typeface="Norwester"/>
              </a:rPr>
              <a:t>Objectives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54280" y="366883"/>
            <a:ext cx="17379440" cy="9553234"/>
            <a:chOff x="0" y="0"/>
            <a:chExt cx="23172587" cy="12737646"/>
          </a:xfrm>
        </p:grpSpPr>
        <p:sp>
          <p:nvSpPr>
            <p:cNvPr name="Freeform 3" id="3"/>
            <p:cNvSpPr/>
            <p:nvPr/>
          </p:nvSpPr>
          <p:spPr>
            <a:xfrm flipH="false" flipV="false" rot="-10800000">
              <a:off x="0" y="0"/>
              <a:ext cx="18190091" cy="12737646"/>
            </a:xfrm>
            <a:custGeom>
              <a:avLst/>
              <a:gdLst/>
              <a:ahLst/>
              <a:cxnLst/>
              <a:rect r="r" b="b" t="t" l="l"/>
              <a:pathLst>
                <a:path h="12737646" w="18190091">
                  <a:moveTo>
                    <a:pt x="0" y="0"/>
                  </a:moveTo>
                  <a:lnTo>
                    <a:pt x="18190091" y="0"/>
                  </a:lnTo>
                  <a:lnTo>
                    <a:pt x="18190091" y="12737646"/>
                  </a:lnTo>
                  <a:lnTo>
                    <a:pt x="0" y="12737646"/>
                  </a:lnTo>
                  <a:lnTo>
                    <a:pt x="0" y="0"/>
                  </a:lnTo>
                  <a:close/>
                </a:path>
              </a:pathLst>
            </a:custGeom>
            <a:blipFill>
              <a:blip r:embed="rId2">
                <a:extLst>
                  <a:ext uri="{96DAC541-7B7A-43D3-8B79-37D633B846F1}">
                    <asvg:svgBlip xmlns:asvg="http://schemas.microsoft.com/office/drawing/2016/SVG/main" r:embed="rId3"/>
                  </a:ext>
                </a:extLst>
              </a:blip>
              <a:stretch>
                <a:fillRect l="-94" t="0" r="-94" b="0"/>
              </a:stretch>
            </a:blipFill>
          </p:spPr>
        </p:sp>
        <p:sp>
          <p:nvSpPr>
            <p:cNvPr name="Freeform 4" id="4"/>
            <p:cNvSpPr/>
            <p:nvPr/>
          </p:nvSpPr>
          <p:spPr>
            <a:xfrm flipH="false" flipV="false" rot="-10800000">
              <a:off x="4982496" y="0"/>
              <a:ext cx="18190091" cy="12737646"/>
            </a:xfrm>
            <a:custGeom>
              <a:avLst/>
              <a:gdLst/>
              <a:ahLst/>
              <a:cxnLst/>
              <a:rect r="r" b="b" t="t" l="l"/>
              <a:pathLst>
                <a:path h="12737646" w="18190091">
                  <a:moveTo>
                    <a:pt x="0" y="0"/>
                  </a:moveTo>
                  <a:lnTo>
                    <a:pt x="18190091" y="0"/>
                  </a:lnTo>
                  <a:lnTo>
                    <a:pt x="18190091" y="12737646"/>
                  </a:lnTo>
                  <a:lnTo>
                    <a:pt x="0" y="12737646"/>
                  </a:lnTo>
                  <a:lnTo>
                    <a:pt x="0" y="0"/>
                  </a:lnTo>
                  <a:close/>
                </a:path>
              </a:pathLst>
            </a:custGeom>
            <a:blipFill>
              <a:blip r:embed="rId2">
                <a:extLst>
                  <a:ext uri="{96DAC541-7B7A-43D3-8B79-37D633B846F1}">
                    <asvg:svgBlip xmlns:asvg="http://schemas.microsoft.com/office/drawing/2016/SVG/main" r:embed="rId3"/>
                  </a:ext>
                </a:extLst>
              </a:blip>
              <a:stretch>
                <a:fillRect l="-94" t="0" r="-94" b="0"/>
              </a:stretch>
            </a:blipFill>
          </p:spPr>
        </p:sp>
      </p:grpSp>
      <p:sp>
        <p:nvSpPr>
          <p:cNvPr name="Freeform 5" id="5"/>
          <p:cNvSpPr/>
          <p:nvPr/>
        </p:nvSpPr>
        <p:spPr>
          <a:xfrm flipH="false" flipV="false" rot="0">
            <a:off x="12554992" y="1129258"/>
            <a:ext cx="5278728" cy="8028484"/>
          </a:xfrm>
          <a:custGeom>
            <a:avLst/>
            <a:gdLst/>
            <a:ahLst/>
            <a:cxnLst/>
            <a:rect r="r" b="b" t="t" l="l"/>
            <a:pathLst>
              <a:path h="8028484" w="5278728">
                <a:moveTo>
                  <a:pt x="0" y="0"/>
                </a:moveTo>
                <a:lnTo>
                  <a:pt x="5278728" y="0"/>
                </a:lnTo>
                <a:lnTo>
                  <a:pt x="5278728" y="8028484"/>
                </a:lnTo>
                <a:lnTo>
                  <a:pt x="0" y="80284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736676" y="557592"/>
            <a:ext cx="9569822" cy="1709463"/>
          </a:xfrm>
          <a:prstGeom prst="rect">
            <a:avLst/>
          </a:prstGeom>
        </p:spPr>
        <p:txBody>
          <a:bodyPr anchor="t" rtlCol="false" tIns="0" lIns="0" bIns="0" rIns="0">
            <a:spAutoFit/>
          </a:bodyPr>
          <a:lstStyle/>
          <a:p>
            <a:pPr algn="l">
              <a:lnSpc>
                <a:spcPts val="13927"/>
              </a:lnSpc>
            </a:pPr>
            <a:r>
              <a:rPr lang="en-US" sz="9948">
                <a:solidFill>
                  <a:srgbClr val="FFFFFF"/>
                </a:solidFill>
                <a:latin typeface="Norwester"/>
                <a:ea typeface="Norwester"/>
                <a:cs typeface="Norwester"/>
                <a:sym typeface="Norwester"/>
              </a:rPr>
              <a:t>Features</a:t>
            </a:r>
          </a:p>
        </p:txBody>
      </p:sp>
      <p:sp>
        <p:nvSpPr>
          <p:cNvPr name="TextBox 7" id="7"/>
          <p:cNvSpPr txBox="true"/>
          <p:nvPr/>
        </p:nvSpPr>
        <p:spPr>
          <a:xfrm rot="0">
            <a:off x="736676" y="2452370"/>
            <a:ext cx="14313362" cy="7834630"/>
          </a:xfrm>
          <a:prstGeom prst="rect">
            <a:avLst/>
          </a:prstGeom>
        </p:spPr>
        <p:txBody>
          <a:bodyPr anchor="t" rtlCol="false" tIns="0" lIns="0" bIns="0" rIns="0">
            <a:spAutoFit/>
          </a:bodyPr>
          <a:lstStyle/>
          <a:p>
            <a:pPr algn="l">
              <a:lnSpc>
                <a:spcPts val="4480"/>
              </a:lnSpc>
            </a:pPr>
            <a:r>
              <a:rPr lang="en-US" sz="3200">
                <a:solidFill>
                  <a:srgbClr val="FFFFFF"/>
                </a:solidFill>
                <a:latin typeface="Hero Bold"/>
                <a:ea typeface="Hero Bold"/>
                <a:cs typeface="Hero Bold"/>
                <a:sym typeface="Hero Bold"/>
              </a:rPr>
              <a:t>Focus Timer – a built-in timer to manage study and break sessions (Pomodoro style).</a:t>
            </a:r>
          </a:p>
          <a:p>
            <a:pPr algn="l">
              <a:lnSpc>
                <a:spcPts val="4480"/>
              </a:lnSpc>
            </a:pPr>
          </a:p>
          <a:p>
            <a:pPr algn="l">
              <a:lnSpc>
                <a:spcPts val="4480"/>
              </a:lnSpc>
            </a:pPr>
            <a:r>
              <a:rPr lang="en-US" sz="3200">
                <a:solidFill>
                  <a:srgbClr val="FFFFFF"/>
                </a:solidFill>
                <a:latin typeface="Hero Bold"/>
                <a:ea typeface="Hero Bold"/>
                <a:cs typeface="Hero Bold"/>
                <a:sym typeface="Hero Bold"/>
              </a:rPr>
              <a:t>Website Blocker – temporarily restricts access to distracting social media websites while studying.</a:t>
            </a:r>
          </a:p>
          <a:p>
            <a:pPr algn="l">
              <a:lnSpc>
                <a:spcPts val="4480"/>
              </a:lnSpc>
            </a:pPr>
          </a:p>
          <a:p>
            <a:pPr algn="l">
              <a:lnSpc>
                <a:spcPts val="4480"/>
              </a:lnSpc>
            </a:pPr>
            <a:r>
              <a:rPr lang="en-US" sz="3200">
                <a:solidFill>
                  <a:srgbClr val="FFFFFF"/>
                </a:solidFill>
                <a:latin typeface="Hero Bold"/>
                <a:ea typeface="Hero Bold"/>
                <a:cs typeface="Hero Bold"/>
                <a:sym typeface="Hero Bold"/>
              </a:rPr>
              <a:t>Progress Tracker – monitors study hours and completed tasks.</a:t>
            </a:r>
          </a:p>
          <a:p>
            <a:pPr algn="l">
              <a:lnSpc>
                <a:spcPts val="4480"/>
              </a:lnSpc>
            </a:pPr>
          </a:p>
          <a:p>
            <a:pPr algn="l">
              <a:lnSpc>
                <a:spcPts val="4480"/>
              </a:lnSpc>
            </a:pPr>
            <a:r>
              <a:rPr lang="en-US" sz="3200">
                <a:solidFill>
                  <a:srgbClr val="FFFFFF"/>
                </a:solidFill>
                <a:latin typeface="Hero Bold"/>
                <a:ea typeface="Hero Bold"/>
                <a:cs typeface="Hero Bold"/>
                <a:sym typeface="Hero Bold"/>
              </a:rPr>
              <a:t>Motivation Boost – reminders, quotes, or rewards to keep students encouraged.</a:t>
            </a:r>
          </a:p>
          <a:p>
            <a:pPr algn="l">
              <a:lnSpc>
                <a:spcPts val="4480"/>
              </a:lnSpc>
            </a:pPr>
          </a:p>
          <a:p>
            <a:pPr algn="l">
              <a:lnSpc>
                <a:spcPts val="4480"/>
              </a:lnSpc>
            </a:pPr>
            <a:r>
              <a:rPr lang="en-US" sz="3200">
                <a:solidFill>
                  <a:srgbClr val="FFFFFF"/>
                </a:solidFill>
                <a:latin typeface="Hero Bold"/>
                <a:ea typeface="Hero Bold"/>
                <a:cs typeface="Hero Bold"/>
                <a:sym typeface="Hero Bold"/>
              </a:rPr>
              <a:t>Custom Study Plan – lets users set goals and organize subjects or topics efficiently.</a:t>
            </a:r>
          </a:p>
          <a:p>
            <a:pPr algn="l">
              <a:lnSpc>
                <a:spcPts val="4409"/>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9905" y="376073"/>
            <a:ext cx="17379440" cy="9553234"/>
            <a:chOff x="0" y="0"/>
            <a:chExt cx="23172587" cy="12737646"/>
          </a:xfrm>
        </p:grpSpPr>
        <p:sp>
          <p:nvSpPr>
            <p:cNvPr name="Freeform 3" id="3"/>
            <p:cNvSpPr/>
            <p:nvPr/>
          </p:nvSpPr>
          <p:spPr>
            <a:xfrm flipH="false" flipV="false" rot="-10800000">
              <a:off x="0" y="0"/>
              <a:ext cx="18190091" cy="12737646"/>
            </a:xfrm>
            <a:custGeom>
              <a:avLst/>
              <a:gdLst/>
              <a:ahLst/>
              <a:cxnLst/>
              <a:rect r="r" b="b" t="t" l="l"/>
              <a:pathLst>
                <a:path h="12737646" w="18190091">
                  <a:moveTo>
                    <a:pt x="0" y="0"/>
                  </a:moveTo>
                  <a:lnTo>
                    <a:pt x="18190091" y="0"/>
                  </a:lnTo>
                  <a:lnTo>
                    <a:pt x="18190091" y="12737646"/>
                  </a:lnTo>
                  <a:lnTo>
                    <a:pt x="0" y="12737646"/>
                  </a:lnTo>
                  <a:lnTo>
                    <a:pt x="0" y="0"/>
                  </a:lnTo>
                  <a:close/>
                </a:path>
              </a:pathLst>
            </a:custGeom>
            <a:blipFill>
              <a:blip r:embed="rId2">
                <a:extLst>
                  <a:ext uri="{96DAC541-7B7A-43D3-8B79-37D633B846F1}">
                    <asvg:svgBlip xmlns:asvg="http://schemas.microsoft.com/office/drawing/2016/SVG/main" r:embed="rId3"/>
                  </a:ext>
                </a:extLst>
              </a:blip>
              <a:stretch>
                <a:fillRect l="-94" t="0" r="-94" b="0"/>
              </a:stretch>
            </a:blipFill>
          </p:spPr>
        </p:sp>
        <p:sp>
          <p:nvSpPr>
            <p:cNvPr name="Freeform 4" id="4"/>
            <p:cNvSpPr/>
            <p:nvPr/>
          </p:nvSpPr>
          <p:spPr>
            <a:xfrm flipH="false" flipV="false" rot="-10800000">
              <a:off x="4982496" y="0"/>
              <a:ext cx="18190091" cy="12737646"/>
            </a:xfrm>
            <a:custGeom>
              <a:avLst/>
              <a:gdLst/>
              <a:ahLst/>
              <a:cxnLst/>
              <a:rect r="r" b="b" t="t" l="l"/>
              <a:pathLst>
                <a:path h="12737646" w="18190091">
                  <a:moveTo>
                    <a:pt x="0" y="0"/>
                  </a:moveTo>
                  <a:lnTo>
                    <a:pt x="18190091" y="0"/>
                  </a:lnTo>
                  <a:lnTo>
                    <a:pt x="18190091" y="12737646"/>
                  </a:lnTo>
                  <a:lnTo>
                    <a:pt x="0" y="12737646"/>
                  </a:lnTo>
                  <a:lnTo>
                    <a:pt x="0" y="0"/>
                  </a:lnTo>
                  <a:close/>
                </a:path>
              </a:pathLst>
            </a:custGeom>
            <a:blipFill>
              <a:blip r:embed="rId2">
                <a:extLst>
                  <a:ext uri="{96DAC541-7B7A-43D3-8B79-37D633B846F1}">
                    <asvg:svgBlip xmlns:asvg="http://schemas.microsoft.com/office/drawing/2016/SVG/main" r:embed="rId3"/>
                  </a:ext>
                </a:extLst>
              </a:blip>
              <a:stretch>
                <a:fillRect l="-94" t="0" r="-94" b="0"/>
              </a:stretch>
            </a:blipFill>
          </p:spPr>
        </p:sp>
      </p:grpSp>
      <p:sp>
        <p:nvSpPr>
          <p:cNvPr name="Freeform 5" id="5"/>
          <p:cNvSpPr/>
          <p:nvPr/>
        </p:nvSpPr>
        <p:spPr>
          <a:xfrm flipH="false" flipV="false" rot="0">
            <a:off x="11628046" y="1028700"/>
            <a:ext cx="5626989" cy="8229600"/>
          </a:xfrm>
          <a:custGeom>
            <a:avLst/>
            <a:gdLst/>
            <a:ahLst/>
            <a:cxnLst/>
            <a:rect r="r" b="b" t="t" l="l"/>
            <a:pathLst>
              <a:path h="8229600" w="5626989">
                <a:moveTo>
                  <a:pt x="0" y="0"/>
                </a:moveTo>
                <a:lnTo>
                  <a:pt x="5626989" y="0"/>
                </a:lnTo>
                <a:lnTo>
                  <a:pt x="5626989" y="8229600"/>
                </a:lnTo>
                <a:lnTo>
                  <a:pt x="0" y="82296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979007" y="549334"/>
            <a:ext cx="11073443" cy="1457856"/>
          </a:xfrm>
          <a:prstGeom prst="rect">
            <a:avLst/>
          </a:prstGeom>
        </p:spPr>
        <p:txBody>
          <a:bodyPr anchor="t" rtlCol="false" tIns="0" lIns="0" bIns="0" rIns="0">
            <a:spAutoFit/>
          </a:bodyPr>
          <a:lstStyle/>
          <a:p>
            <a:pPr algn="ctr">
              <a:lnSpc>
                <a:spcPts val="11964"/>
              </a:lnSpc>
            </a:pPr>
            <a:r>
              <a:rPr lang="en-US" sz="8546">
                <a:solidFill>
                  <a:srgbClr val="FFFFFF"/>
                </a:solidFill>
                <a:latin typeface="Norwester"/>
                <a:ea typeface="Norwester"/>
                <a:cs typeface="Norwester"/>
                <a:sym typeface="Norwester"/>
              </a:rPr>
              <a:t>Inputs &amp; Ouputs</a:t>
            </a:r>
          </a:p>
        </p:txBody>
      </p:sp>
      <p:sp>
        <p:nvSpPr>
          <p:cNvPr name="TextBox 7" id="7"/>
          <p:cNvSpPr txBox="true"/>
          <p:nvPr/>
        </p:nvSpPr>
        <p:spPr>
          <a:xfrm rot="0">
            <a:off x="1028700" y="2356213"/>
            <a:ext cx="10244882" cy="7077390"/>
          </a:xfrm>
          <a:prstGeom prst="rect">
            <a:avLst/>
          </a:prstGeom>
        </p:spPr>
        <p:txBody>
          <a:bodyPr anchor="t" rtlCol="false" tIns="0" lIns="0" bIns="0" rIns="0">
            <a:spAutoFit/>
          </a:bodyPr>
          <a:lstStyle/>
          <a:p>
            <a:pPr algn="l">
              <a:lnSpc>
                <a:spcPts val="4707"/>
              </a:lnSpc>
              <a:spcBef>
                <a:spcPct val="0"/>
              </a:spcBef>
            </a:pPr>
            <a:r>
              <a:rPr lang="en-US" sz="3362">
                <a:solidFill>
                  <a:srgbClr val="FFFFFF"/>
                </a:solidFill>
                <a:latin typeface="Hero Bold"/>
                <a:ea typeface="Hero Bold"/>
                <a:cs typeface="Hero Bold"/>
                <a:sym typeface="Hero Bold"/>
              </a:rPr>
              <a:t>INPUTS:</a:t>
            </a:r>
          </a:p>
          <a:p>
            <a:pPr algn="l">
              <a:lnSpc>
                <a:spcPts val="4707"/>
              </a:lnSpc>
              <a:spcBef>
                <a:spcPct val="0"/>
              </a:spcBef>
            </a:pPr>
            <a:r>
              <a:rPr lang="en-US" sz="3362">
                <a:solidFill>
                  <a:srgbClr val="FFFFFF"/>
                </a:solidFill>
                <a:latin typeface="Hero Bold"/>
                <a:ea typeface="Hero Bold"/>
                <a:cs typeface="Hero Bold"/>
                <a:sym typeface="Hero Bold"/>
              </a:rPr>
              <a:t>    • Subject that the user will study.</a:t>
            </a:r>
          </a:p>
          <a:p>
            <a:pPr algn="l">
              <a:lnSpc>
                <a:spcPts val="4707"/>
              </a:lnSpc>
              <a:spcBef>
                <a:spcPct val="0"/>
              </a:spcBef>
            </a:pPr>
            <a:r>
              <a:rPr lang="en-US" sz="3362">
                <a:solidFill>
                  <a:srgbClr val="FFFFFF"/>
                </a:solidFill>
                <a:latin typeface="Hero Bold"/>
                <a:ea typeface="Hero Bold"/>
                <a:cs typeface="Hero Bold"/>
                <a:sym typeface="Hero Bold"/>
              </a:rPr>
              <a:t>    • Time to be spent studying.</a:t>
            </a:r>
          </a:p>
          <a:p>
            <a:pPr algn="l">
              <a:lnSpc>
                <a:spcPts val="4707"/>
              </a:lnSpc>
              <a:spcBef>
                <a:spcPct val="0"/>
              </a:spcBef>
            </a:pPr>
            <a:r>
              <a:rPr lang="en-US" sz="3362">
                <a:solidFill>
                  <a:srgbClr val="FFFFFF"/>
                </a:solidFill>
                <a:latin typeface="Hero Bold"/>
                <a:ea typeface="Hero Bold"/>
                <a:cs typeface="Hero Bold"/>
                <a:sym typeface="Hero Bold"/>
              </a:rPr>
              <a:t>    • Websites that the user requests to block while studying.</a:t>
            </a:r>
          </a:p>
          <a:p>
            <a:pPr algn="l">
              <a:lnSpc>
                <a:spcPts val="4707"/>
              </a:lnSpc>
              <a:spcBef>
                <a:spcPct val="0"/>
              </a:spcBef>
            </a:pPr>
          </a:p>
          <a:p>
            <a:pPr algn="l">
              <a:lnSpc>
                <a:spcPts val="4707"/>
              </a:lnSpc>
              <a:spcBef>
                <a:spcPct val="0"/>
              </a:spcBef>
            </a:pPr>
            <a:r>
              <a:rPr lang="en-US" sz="3362">
                <a:solidFill>
                  <a:srgbClr val="FFFFFF"/>
                </a:solidFill>
                <a:latin typeface="Hero Bold"/>
                <a:ea typeface="Hero Bold"/>
                <a:cs typeface="Hero Bold"/>
                <a:sym typeface="Hero Bold"/>
              </a:rPr>
              <a:t>  OUTPUTS:</a:t>
            </a:r>
          </a:p>
          <a:p>
            <a:pPr algn="l">
              <a:lnSpc>
                <a:spcPts val="4707"/>
              </a:lnSpc>
              <a:spcBef>
                <a:spcPct val="0"/>
              </a:spcBef>
            </a:pPr>
            <a:r>
              <a:rPr lang="en-US" sz="3362">
                <a:solidFill>
                  <a:srgbClr val="FFFFFF"/>
                </a:solidFill>
                <a:latin typeface="Hero Bold"/>
                <a:ea typeface="Hero Bold"/>
                <a:cs typeface="Hero Bold"/>
                <a:sym typeface="Hero Bold"/>
              </a:rPr>
              <a:t>    • Motivation Boost pop-up reminders/quotes/rewards</a:t>
            </a:r>
          </a:p>
          <a:p>
            <a:pPr algn="l">
              <a:lnSpc>
                <a:spcPts val="4707"/>
              </a:lnSpc>
              <a:spcBef>
                <a:spcPct val="0"/>
              </a:spcBef>
            </a:pPr>
            <a:r>
              <a:rPr lang="en-US" sz="3362">
                <a:solidFill>
                  <a:srgbClr val="FFFFFF"/>
                </a:solidFill>
                <a:latin typeface="Hero Bold"/>
                <a:ea typeface="Hero Bold"/>
                <a:cs typeface="Hero Bold"/>
                <a:sym typeface="Hero Bold"/>
              </a:rPr>
              <a:t>    • Distraction Detector pop-up (if the user is trying to use an app )</a:t>
            </a:r>
          </a:p>
          <a:p>
            <a:pPr algn="l">
              <a:lnSpc>
                <a:spcPts val="4707"/>
              </a:lnSpc>
              <a:spcBef>
                <a:spcPct val="0"/>
              </a:spcBef>
            </a:pPr>
            <a:r>
              <a:rPr lang="en-US" sz="3362">
                <a:solidFill>
                  <a:srgbClr val="FFFFFF"/>
                </a:solidFill>
                <a:latin typeface="Hero Bold"/>
                <a:ea typeface="Hero Bold"/>
                <a:cs typeface="Hero Bold"/>
                <a:sym typeface="Hero Bold"/>
              </a:rPr>
              <a:t>    • Tracked study hours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9905" y="376073"/>
            <a:ext cx="17379440" cy="9553234"/>
            <a:chOff x="0" y="0"/>
            <a:chExt cx="23172587" cy="12737646"/>
          </a:xfrm>
        </p:grpSpPr>
        <p:sp>
          <p:nvSpPr>
            <p:cNvPr name="Freeform 3" id="3"/>
            <p:cNvSpPr/>
            <p:nvPr/>
          </p:nvSpPr>
          <p:spPr>
            <a:xfrm flipH="false" flipV="false" rot="-10800000">
              <a:off x="0" y="0"/>
              <a:ext cx="18190091" cy="12737646"/>
            </a:xfrm>
            <a:custGeom>
              <a:avLst/>
              <a:gdLst/>
              <a:ahLst/>
              <a:cxnLst/>
              <a:rect r="r" b="b" t="t" l="l"/>
              <a:pathLst>
                <a:path h="12737646" w="18190091">
                  <a:moveTo>
                    <a:pt x="0" y="0"/>
                  </a:moveTo>
                  <a:lnTo>
                    <a:pt x="18190091" y="0"/>
                  </a:lnTo>
                  <a:lnTo>
                    <a:pt x="18190091" y="12737646"/>
                  </a:lnTo>
                  <a:lnTo>
                    <a:pt x="0" y="12737646"/>
                  </a:lnTo>
                  <a:lnTo>
                    <a:pt x="0" y="0"/>
                  </a:lnTo>
                  <a:close/>
                </a:path>
              </a:pathLst>
            </a:custGeom>
            <a:blipFill>
              <a:blip r:embed="rId2">
                <a:extLst>
                  <a:ext uri="{96DAC541-7B7A-43D3-8B79-37D633B846F1}">
                    <asvg:svgBlip xmlns:asvg="http://schemas.microsoft.com/office/drawing/2016/SVG/main" r:embed="rId3"/>
                  </a:ext>
                </a:extLst>
              </a:blip>
              <a:stretch>
                <a:fillRect l="-94" t="0" r="-94" b="0"/>
              </a:stretch>
            </a:blipFill>
          </p:spPr>
        </p:sp>
        <p:sp>
          <p:nvSpPr>
            <p:cNvPr name="Freeform 4" id="4"/>
            <p:cNvSpPr/>
            <p:nvPr/>
          </p:nvSpPr>
          <p:spPr>
            <a:xfrm flipH="false" flipV="false" rot="-10800000">
              <a:off x="4982496" y="0"/>
              <a:ext cx="18190091" cy="12737646"/>
            </a:xfrm>
            <a:custGeom>
              <a:avLst/>
              <a:gdLst/>
              <a:ahLst/>
              <a:cxnLst/>
              <a:rect r="r" b="b" t="t" l="l"/>
              <a:pathLst>
                <a:path h="12737646" w="18190091">
                  <a:moveTo>
                    <a:pt x="0" y="0"/>
                  </a:moveTo>
                  <a:lnTo>
                    <a:pt x="18190091" y="0"/>
                  </a:lnTo>
                  <a:lnTo>
                    <a:pt x="18190091" y="12737646"/>
                  </a:lnTo>
                  <a:lnTo>
                    <a:pt x="0" y="12737646"/>
                  </a:lnTo>
                  <a:lnTo>
                    <a:pt x="0" y="0"/>
                  </a:lnTo>
                  <a:close/>
                </a:path>
              </a:pathLst>
            </a:custGeom>
            <a:blipFill>
              <a:blip r:embed="rId2">
                <a:extLst>
                  <a:ext uri="{96DAC541-7B7A-43D3-8B79-37D633B846F1}">
                    <asvg:svgBlip xmlns:asvg="http://schemas.microsoft.com/office/drawing/2016/SVG/main" r:embed="rId3"/>
                  </a:ext>
                </a:extLst>
              </a:blip>
              <a:stretch>
                <a:fillRect l="-94" t="0" r="-94" b="0"/>
              </a:stretch>
            </a:blipFill>
          </p:spPr>
        </p:sp>
      </p:grpSp>
      <p:sp>
        <p:nvSpPr>
          <p:cNvPr name="TextBox 5" id="5"/>
          <p:cNvSpPr txBox="true"/>
          <p:nvPr/>
        </p:nvSpPr>
        <p:spPr>
          <a:xfrm rot="0">
            <a:off x="1895737" y="828675"/>
            <a:ext cx="14467777" cy="1769288"/>
          </a:xfrm>
          <a:prstGeom prst="rect">
            <a:avLst/>
          </a:prstGeom>
        </p:spPr>
        <p:txBody>
          <a:bodyPr anchor="t" rtlCol="false" tIns="0" lIns="0" bIns="0" rIns="0">
            <a:spAutoFit/>
          </a:bodyPr>
          <a:lstStyle/>
          <a:p>
            <a:pPr algn="ctr">
              <a:lnSpc>
                <a:spcPts val="14488"/>
              </a:lnSpc>
            </a:pPr>
            <a:r>
              <a:rPr lang="en-US" sz="10348">
                <a:solidFill>
                  <a:srgbClr val="FFFFFF"/>
                </a:solidFill>
                <a:latin typeface="Norwester"/>
                <a:ea typeface="Norwester"/>
                <a:cs typeface="Norwester"/>
                <a:sym typeface="Norwester"/>
              </a:rPr>
              <a:t>How to Run the Program:</a:t>
            </a:r>
          </a:p>
        </p:txBody>
      </p:sp>
      <p:sp>
        <p:nvSpPr>
          <p:cNvPr name="TextBox 6" id="6"/>
          <p:cNvSpPr txBox="true"/>
          <p:nvPr/>
        </p:nvSpPr>
        <p:spPr>
          <a:xfrm rot="0">
            <a:off x="560045" y="2814599"/>
            <a:ext cx="17259300" cy="7048724"/>
          </a:xfrm>
          <a:prstGeom prst="rect">
            <a:avLst/>
          </a:prstGeom>
        </p:spPr>
        <p:txBody>
          <a:bodyPr anchor="t" rtlCol="false" tIns="0" lIns="0" bIns="0" rIns="0">
            <a:spAutoFit/>
          </a:bodyPr>
          <a:lstStyle/>
          <a:p>
            <a:pPr algn="just">
              <a:lnSpc>
                <a:spcPts val="4718"/>
              </a:lnSpc>
            </a:pPr>
            <a:r>
              <a:rPr lang="en-US" sz="2808">
                <a:solidFill>
                  <a:srgbClr val="FFFFFF"/>
                </a:solidFill>
                <a:latin typeface="Hero Bold"/>
                <a:ea typeface="Hero Bold"/>
                <a:cs typeface="Hero Bold"/>
                <a:sym typeface="Hero Bold"/>
              </a:rPr>
              <a:t>1.Open the Program – </a:t>
            </a:r>
            <a:r>
              <a:rPr lang="en-US" sz="2808">
                <a:solidFill>
                  <a:srgbClr val="FFFFFF"/>
                </a:solidFill>
                <a:latin typeface="Hero"/>
                <a:ea typeface="Hero"/>
                <a:cs typeface="Hero"/>
                <a:sym typeface="Hero"/>
              </a:rPr>
              <a:t>launch the application on your device.</a:t>
            </a:r>
          </a:p>
          <a:p>
            <a:pPr algn="just">
              <a:lnSpc>
                <a:spcPts val="4718"/>
              </a:lnSpc>
            </a:pPr>
          </a:p>
          <a:p>
            <a:pPr algn="just">
              <a:lnSpc>
                <a:spcPts val="4718"/>
              </a:lnSpc>
            </a:pPr>
            <a:r>
              <a:rPr lang="en-US" sz="2808">
                <a:solidFill>
                  <a:srgbClr val="FFFFFF"/>
                </a:solidFill>
                <a:latin typeface="Hero Bold"/>
                <a:ea typeface="Hero Bold"/>
                <a:cs typeface="Hero Bold"/>
                <a:sym typeface="Hero Bold"/>
              </a:rPr>
              <a:t>2.Set Your Study Plan – </a:t>
            </a:r>
            <a:r>
              <a:rPr lang="en-US" sz="2808">
                <a:solidFill>
                  <a:srgbClr val="FFFFFF"/>
                </a:solidFill>
                <a:latin typeface="Hero"/>
                <a:ea typeface="Hero"/>
                <a:cs typeface="Hero"/>
                <a:sym typeface="Hero"/>
              </a:rPr>
              <a:t>input the subject or task you want to focus on and the time you’ll spend.</a:t>
            </a:r>
          </a:p>
          <a:p>
            <a:pPr algn="just">
              <a:lnSpc>
                <a:spcPts val="4718"/>
              </a:lnSpc>
            </a:pPr>
          </a:p>
          <a:p>
            <a:pPr algn="just">
              <a:lnSpc>
                <a:spcPts val="4718"/>
              </a:lnSpc>
            </a:pPr>
            <a:r>
              <a:rPr lang="en-US" sz="2808">
                <a:solidFill>
                  <a:srgbClr val="FFFFFF"/>
                </a:solidFill>
                <a:latin typeface="Hero Bold"/>
                <a:ea typeface="Hero Bold"/>
                <a:cs typeface="Hero Bold"/>
                <a:sym typeface="Hero Bold"/>
              </a:rPr>
              <a:t>3.Enter Unwanted Websites - </a:t>
            </a:r>
            <a:r>
              <a:rPr lang="en-US" sz="2808">
                <a:solidFill>
                  <a:srgbClr val="FFFFFF"/>
                </a:solidFill>
                <a:latin typeface="Hero"/>
                <a:ea typeface="Hero"/>
                <a:cs typeface="Hero"/>
                <a:sym typeface="Hero"/>
              </a:rPr>
              <a:t>input the link/s of the websites you want to temporarily block.</a:t>
            </a:r>
          </a:p>
          <a:p>
            <a:pPr algn="just">
              <a:lnSpc>
                <a:spcPts val="4718"/>
              </a:lnSpc>
            </a:pPr>
          </a:p>
          <a:p>
            <a:pPr algn="just">
              <a:lnSpc>
                <a:spcPts val="4718"/>
              </a:lnSpc>
            </a:pPr>
            <a:r>
              <a:rPr lang="en-US" sz="2808">
                <a:solidFill>
                  <a:srgbClr val="FFFFFF"/>
                </a:solidFill>
                <a:latin typeface="Hero Bold"/>
                <a:ea typeface="Hero Bold"/>
                <a:cs typeface="Hero Bold"/>
                <a:sym typeface="Hero Bold"/>
              </a:rPr>
              <a:t>4.Start the Focus Timer –</a:t>
            </a:r>
            <a:r>
              <a:rPr lang="en-US" sz="2808">
                <a:solidFill>
                  <a:srgbClr val="FFFFFF"/>
                </a:solidFill>
                <a:latin typeface="Hero"/>
                <a:ea typeface="Hero"/>
                <a:cs typeface="Hero"/>
                <a:sym typeface="Hero"/>
              </a:rPr>
              <a:t> the program will block distracting apps and websites while you study.</a:t>
            </a:r>
          </a:p>
          <a:p>
            <a:pPr algn="just">
              <a:lnSpc>
                <a:spcPts val="4718"/>
              </a:lnSpc>
            </a:pPr>
          </a:p>
          <a:p>
            <a:pPr algn="just">
              <a:lnSpc>
                <a:spcPts val="4718"/>
              </a:lnSpc>
            </a:pPr>
            <a:r>
              <a:rPr lang="en-US" sz="2808">
                <a:solidFill>
                  <a:srgbClr val="FFFFFF"/>
                </a:solidFill>
                <a:latin typeface="Hero Bold"/>
                <a:ea typeface="Hero Bold"/>
                <a:cs typeface="Hero Bold"/>
                <a:sym typeface="Hero Bold"/>
              </a:rPr>
              <a:t>5.Take Breaks – </a:t>
            </a:r>
            <a:r>
              <a:rPr lang="en-US" sz="2808">
                <a:solidFill>
                  <a:srgbClr val="FFFFFF"/>
                </a:solidFill>
                <a:latin typeface="Hero"/>
                <a:ea typeface="Hero"/>
                <a:cs typeface="Hero"/>
                <a:sym typeface="Hero"/>
              </a:rPr>
              <a:t>follow the timer’s scheduled breaks to rest and refresh.</a:t>
            </a:r>
          </a:p>
          <a:p>
            <a:pPr algn="just">
              <a:lnSpc>
                <a:spcPts val="4718"/>
              </a:lnSpc>
            </a:pPr>
          </a:p>
          <a:p>
            <a:pPr algn="just">
              <a:lnSpc>
                <a:spcPts val="4718"/>
              </a:lnSpc>
            </a:pPr>
            <a:r>
              <a:rPr lang="en-US" sz="2808">
                <a:solidFill>
                  <a:srgbClr val="FFFFFF"/>
                </a:solidFill>
                <a:latin typeface="Hero Bold"/>
                <a:ea typeface="Hero Bold"/>
                <a:cs typeface="Hero Bold"/>
                <a:sym typeface="Hero Bold"/>
              </a:rPr>
              <a:t>6.Check Progress – </a:t>
            </a:r>
            <a:r>
              <a:rPr lang="en-US" sz="2808">
                <a:solidFill>
                  <a:srgbClr val="FFFFFF"/>
                </a:solidFill>
                <a:latin typeface="Hero"/>
                <a:ea typeface="Hero"/>
                <a:cs typeface="Hero"/>
                <a:sym typeface="Hero"/>
              </a:rPr>
              <a:t>after studying, view your tracked study hours and completed tasks.</a:t>
            </a:r>
          </a:p>
          <a:p>
            <a:pPr algn="just">
              <a:lnSpc>
                <a:spcPts val="4718"/>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9905" y="376073"/>
            <a:ext cx="17379440" cy="9553234"/>
            <a:chOff x="0" y="0"/>
            <a:chExt cx="23172587" cy="12737646"/>
          </a:xfrm>
        </p:grpSpPr>
        <p:sp>
          <p:nvSpPr>
            <p:cNvPr name="Freeform 3" id="3"/>
            <p:cNvSpPr/>
            <p:nvPr/>
          </p:nvSpPr>
          <p:spPr>
            <a:xfrm flipH="false" flipV="false" rot="-10800000">
              <a:off x="0" y="0"/>
              <a:ext cx="18190091" cy="12737646"/>
            </a:xfrm>
            <a:custGeom>
              <a:avLst/>
              <a:gdLst/>
              <a:ahLst/>
              <a:cxnLst/>
              <a:rect r="r" b="b" t="t" l="l"/>
              <a:pathLst>
                <a:path h="12737646" w="18190091">
                  <a:moveTo>
                    <a:pt x="0" y="0"/>
                  </a:moveTo>
                  <a:lnTo>
                    <a:pt x="18190091" y="0"/>
                  </a:lnTo>
                  <a:lnTo>
                    <a:pt x="18190091" y="12737646"/>
                  </a:lnTo>
                  <a:lnTo>
                    <a:pt x="0" y="12737646"/>
                  </a:lnTo>
                  <a:lnTo>
                    <a:pt x="0" y="0"/>
                  </a:lnTo>
                  <a:close/>
                </a:path>
              </a:pathLst>
            </a:custGeom>
            <a:blipFill>
              <a:blip r:embed="rId2">
                <a:extLst>
                  <a:ext uri="{96DAC541-7B7A-43D3-8B79-37D633B846F1}">
                    <asvg:svgBlip xmlns:asvg="http://schemas.microsoft.com/office/drawing/2016/SVG/main" r:embed="rId3"/>
                  </a:ext>
                </a:extLst>
              </a:blip>
              <a:stretch>
                <a:fillRect l="-94" t="0" r="-94" b="0"/>
              </a:stretch>
            </a:blipFill>
          </p:spPr>
        </p:sp>
        <p:sp>
          <p:nvSpPr>
            <p:cNvPr name="Freeform 4" id="4"/>
            <p:cNvSpPr/>
            <p:nvPr/>
          </p:nvSpPr>
          <p:spPr>
            <a:xfrm flipH="false" flipV="false" rot="-10800000">
              <a:off x="4982496" y="0"/>
              <a:ext cx="18190091" cy="12737646"/>
            </a:xfrm>
            <a:custGeom>
              <a:avLst/>
              <a:gdLst/>
              <a:ahLst/>
              <a:cxnLst/>
              <a:rect r="r" b="b" t="t" l="l"/>
              <a:pathLst>
                <a:path h="12737646" w="18190091">
                  <a:moveTo>
                    <a:pt x="0" y="0"/>
                  </a:moveTo>
                  <a:lnTo>
                    <a:pt x="18190091" y="0"/>
                  </a:lnTo>
                  <a:lnTo>
                    <a:pt x="18190091" y="12737646"/>
                  </a:lnTo>
                  <a:lnTo>
                    <a:pt x="0" y="12737646"/>
                  </a:lnTo>
                  <a:lnTo>
                    <a:pt x="0" y="0"/>
                  </a:lnTo>
                  <a:close/>
                </a:path>
              </a:pathLst>
            </a:custGeom>
            <a:blipFill>
              <a:blip r:embed="rId2">
                <a:extLst>
                  <a:ext uri="{96DAC541-7B7A-43D3-8B79-37D633B846F1}">
                    <asvg:svgBlip xmlns:asvg="http://schemas.microsoft.com/office/drawing/2016/SVG/main" r:embed="rId3"/>
                  </a:ext>
                </a:extLst>
              </a:blip>
              <a:stretch>
                <a:fillRect l="-94" t="0" r="-94" b="0"/>
              </a:stretch>
            </a:blipFill>
          </p:spPr>
        </p:sp>
      </p:grpSp>
      <p:sp>
        <p:nvSpPr>
          <p:cNvPr name="Freeform 5" id="5"/>
          <p:cNvSpPr/>
          <p:nvPr/>
        </p:nvSpPr>
        <p:spPr>
          <a:xfrm flipH="false" flipV="false" rot="0">
            <a:off x="11569799" y="376073"/>
            <a:ext cx="4952688" cy="9553234"/>
          </a:xfrm>
          <a:custGeom>
            <a:avLst/>
            <a:gdLst/>
            <a:ahLst/>
            <a:cxnLst/>
            <a:rect r="r" b="b" t="t" l="l"/>
            <a:pathLst>
              <a:path h="9553234" w="4952688">
                <a:moveTo>
                  <a:pt x="0" y="0"/>
                </a:moveTo>
                <a:lnTo>
                  <a:pt x="4952688" y="0"/>
                </a:lnTo>
                <a:lnTo>
                  <a:pt x="4952688" y="9553234"/>
                </a:lnTo>
                <a:lnTo>
                  <a:pt x="0" y="9553234"/>
                </a:lnTo>
                <a:lnTo>
                  <a:pt x="0" y="0"/>
                </a:lnTo>
                <a:close/>
              </a:path>
            </a:pathLst>
          </a:custGeom>
          <a:blipFill>
            <a:blip r:embed="rId4"/>
            <a:stretch>
              <a:fillRect l="0" t="0" r="0" b="0"/>
            </a:stretch>
          </a:blipFill>
        </p:spPr>
      </p:sp>
      <p:sp>
        <p:nvSpPr>
          <p:cNvPr name="TextBox 6" id="6"/>
          <p:cNvSpPr txBox="true"/>
          <p:nvPr/>
        </p:nvSpPr>
        <p:spPr>
          <a:xfrm rot="0">
            <a:off x="790845" y="3558834"/>
            <a:ext cx="10778954" cy="2845481"/>
          </a:xfrm>
          <a:prstGeom prst="rect">
            <a:avLst/>
          </a:prstGeom>
        </p:spPr>
        <p:txBody>
          <a:bodyPr anchor="t" rtlCol="false" tIns="0" lIns="0" bIns="0" rIns="0">
            <a:spAutoFit/>
          </a:bodyPr>
          <a:lstStyle/>
          <a:p>
            <a:pPr algn="ctr">
              <a:lnSpc>
                <a:spcPts val="23237"/>
              </a:lnSpc>
            </a:pPr>
            <a:r>
              <a:rPr lang="en-US" sz="16598">
                <a:solidFill>
                  <a:srgbClr val="FFFFFF"/>
                </a:solidFill>
                <a:latin typeface="Norwester"/>
                <a:ea typeface="Norwester"/>
                <a:cs typeface="Norwester"/>
                <a:sym typeface="Norwester"/>
              </a:rPr>
              <a:t>FLOWCHART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9905" y="376073"/>
            <a:ext cx="17379440" cy="9553234"/>
            <a:chOff x="0" y="0"/>
            <a:chExt cx="23172587" cy="12737646"/>
          </a:xfrm>
        </p:grpSpPr>
        <p:sp>
          <p:nvSpPr>
            <p:cNvPr name="Freeform 3" id="3"/>
            <p:cNvSpPr/>
            <p:nvPr/>
          </p:nvSpPr>
          <p:spPr>
            <a:xfrm flipH="false" flipV="false" rot="-10800000">
              <a:off x="0" y="0"/>
              <a:ext cx="18190091" cy="12737646"/>
            </a:xfrm>
            <a:custGeom>
              <a:avLst/>
              <a:gdLst/>
              <a:ahLst/>
              <a:cxnLst/>
              <a:rect r="r" b="b" t="t" l="l"/>
              <a:pathLst>
                <a:path h="12737646" w="18190091">
                  <a:moveTo>
                    <a:pt x="0" y="0"/>
                  </a:moveTo>
                  <a:lnTo>
                    <a:pt x="18190091" y="0"/>
                  </a:lnTo>
                  <a:lnTo>
                    <a:pt x="18190091" y="12737646"/>
                  </a:lnTo>
                  <a:lnTo>
                    <a:pt x="0" y="12737646"/>
                  </a:lnTo>
                  <a:lnTo>
                    <a:pt x="0" y="0"/>
                  </a:lnTo>
                  <a:close/>
                </a:path>
              </a:pathLst>
            </a:custGeom>
            <a:blipFill>
              <a:blip r:embed="rId2">
                <a:extLst>
                  <a:ext uri="{96DAC541-7B7A-43D3-8B79-37D633B846F1}">
                    <asvg:svgBlip xmlns:asvg="http://schemas.microsoft.com/office/drawing/2016/SVG/main" r:embed="rId3"/>
                  </a:ext>
                </a:extLst>
              </a:blip>
              <a:stretch>
                <a:fillRect l="-94" t="0" r="-94" b="0"/>
              </a:stretch>
            </a:blipFill>
          </p:spPr>
        </p:sp>
        <p:sp>
          <p:nvSpPr>
            <p:cNvPr name="Freeform 4" id="4"/>
            <p:cNvSpPr/>
            <p:nvPr/>
          </p:nvSpPr>
          <p:spPr>
            <a:xfrm flipH="false" flipV="false" rot="-10800000">
              <a:off x="4982496" y="0"/>
              <a:ext cx="18190091" cy="12737646"/>
            </a:xfrm>
            <a:custGeom>
              <a:avLst/>
              <a:gdLst/>
              <a:ahLst/>
              <a:cxnLst/>
              <a:rect r="r" b="b" t="t" l="l"/>
              <a:pathLst>
                <a:path h="12737646" w="18190091">
                  <a:moveTo>
                    <a:pt x="0" y="0"/>
                  </a:moveTo>
                  <a:lnTo>
                    <a:pt x="18190091" y="0"/>
                  </a:lnTo>
                  <a:lnTo>
                    <a:pt x="18190091" y="12737646"/>
                  </a:lnTo>
                  <a:lnTo>
                    <a:pt x="0" y="12737646"/>
                  </a:lnTo>
                  <a:lnTo>
                    <a:pt x="0" y="0"/>
                  </a:lnTo>
                  <a:close/>
                </a:path>
              </a:pathLst>
            </a:custGeom>
            <a:blipFill>
              <a:blip r:embed="rId2">
                <a:extLst>
                  <a:ext uri="{96DAC541-7B7A-43D3-8B79-37D633B846F1}">
                    <asvg:svgBlip xmlns:asvg="http://schemas.microsoft.com/office/drawing/2016/SVG/main" r:embed="rId3"/>
                  </a:ext>
                </a:extLst>
              </a:blip>
              <a:stretch>
                <a:fillRect l="-94" t="0" r="-94" b="0"/>
              </a:stretch>
            </a:blipFill>
          </p:spPr>
        </p:sp>
      </p:grpSp>
      <p:sp>
        <p:nvSpPr>
          <p:cNvPr name="Freeform 5" id="5"/>
          <p:cNvSpPr/>
          <p:nvPr/>
        </p:nvSpPr>
        <p:spPr>
          <a:xfrm flipH="false" flipV="false" rot="0">
            <a:off x="10333044" y="2043983"/>
            <a:ext cx="8129675" cy="8243017"/>
          </a:xfrm>
          <a:custGeom>
            <a:avLst/>
            <a:gdLst/>
            <a:ahLst/>
            <a:cxnLst/>
            <a:rect r="r" b="b" t="t" l="l"/>
            <a:pathLst>
              <a:path h="8243017" w="8129675">
                <a:moveTo>
                  <a:pt x="0" y="0"/>
                </a:moveTo>
                <a:lnTo>
                  <a:pt x="8129675" y="0"/>
                </a:lnTo>
                <a:lnTo>
                  <a:pt x="8129675" y="8243017"/>
                </a:lnTo>
                <a:lnTo>
                  <a:pt x="0" y="824301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619115" y="786316"/>
            <a:ext cx="10038374" cy="1563623"/>
          </a:xfrm>
          <a:prstGeom prst="rect">
            <a:avLst/>
          </a:prstGeom>
        </p:spPr>
        <p:txBody>
          <a:bodyPr anchor="t" rtlCol="false" tIns="0" lIns="0" bIns="0" rIns="0">
            <a:spAutoFit/>
          </a:bodyPr>
          <a:lstStyle/>
          <a:p>
            <a:pPr algn="l">
              <a:lnSpc>
                <a:spcPts val="12167"/>
              </a:lnSpc>
            </a:pPr>
            <a:r>
              <a:rPr lang="en-US" sz="10399">
                <a:solidFill>
                  <a:srgbClr val="FFFFFF"/>
                </a:solidFill>
                <a:latin typeface="Norwester"/>
                <a:ea typeface="Norwester"/>
                <a:cs typeface="Norwester"/>
                <a:sym typeface="Norwester"/>
              </a:rPr>
              <a:t>Example Output</a:t>
            </a:r>
          </a:p>
        </p:txBody>
      </p:sp>
      <p:sp>
        <p:nvSpPr>
          <p:cNvPr name="TextBox 7" id="7"/>
          <p:cNvSpPr txBox="true"/>
          <p:nvPr/>
        </p:nvSpPr>
        <p:spPr>
          <a:xfrm rot="0">
            <a:off x="695693" y="2349939"/>
            <a:ext cx="9637351" cy="7319959"/>
          </a:xfrm>
          <a:prstGeom prst="rect">
            <a:avLst/>
          </a:prstGeom>
        </p:spPr>
        <p:txBody>
          <a:bodyPr anchor="t" rtlCol="false" tIns="0" lIns="0" bIns="0" rIns="0">
            <a:spAutoFit/>
          </a:bodyPr>
          <a:lstStyle/>
          <a:p>
            <a:pPr algn="l">
              <a:lnSpc>
                <a:spcPts val="3630"/>
              </a:lnSpc>
              <a:spcBef>
                <a:spcPct val="0"/>
              </a:spcBef>
            </a:pPr>
            <a:r>
              <a:rPr lang="en-US" sz="3102">
                <a:solidFill>
                  <a:srgbClr val="000000"/>
                </a:solidFill>
                <a:latin typeface="Hero Bold"/>
                <a:ea typeface="Hero Bold"/>
                <a:cs typeface="Hero Bold"/>
                <a:sym typeface="Hero Bold"/>
              </a:rPr>
              <a:t>Enter student name:</a:t>
            </a:r>
            <a:r>
              <a:rPr lang="en-US" sz="3102">
                <a:solidFill>
                  <a:srgbClr val="000000"/>
                </a:solidFill>
                <a:latin typeface="Hero"/>
                <a:ea typeface="Hero"/>
                <a:cs typeface="Hero"/>
                <a:sym typeface="Hero"/>
              </a:rPr>
              <a:t> Alice</a:t>
            </a:r>
          </a:p>
          <a:p>
            <a:pPr algn="l">
              <a:lnSpc>
                <a:spcPts val="3630"/>
              </a:lnSpc>
              <a:spcBef>
                <a:spcPct val="0"/>
              </a:spcBef>
            </a:pPr>
          </a:p>
          <a:p>
            <a:pPr algn="l">
              <a:lnSpc>
                <a:spcPts val="3630"/>
              </a:lnSpc>
              <a:spcBef>
                <a:spcPct val="0"/>
              </a:spcBef>
            </a:pPr>
            <a:r>
              <a:rPr lang="en-US" sz="3102">
                <a:solidFill>
                  <a:srgbClr val="000000"/>
                </a:solidFill>
                <a:latin typeface="Hero Bold"/>
                <a:ea typeface="Hero Bold"/>
                <a:cs typeface="Hero Bold"/>
                <a:sym typeface="Hero Bold"/>
              </a:rPr>
              <a:t>Enter Subject, Task, and Time planned to Study:</a:t>
            </a:r>
            <a:r>
              <a:rPr lang="en-US" sz="3102">
                <a:solidFill>
                  <a:srgbClr val="000000"/>
                </a:solidFill>
                <a:latin typeface="Hero"/>
                <a:ea typeface="Hero"/>
                <a:cs typeface="Hero"/>
                <a:sym typeface="Hero"/>
              </a:rPr>
              <a:t> Biology, Quiz, 1 hour</a:t>
            </a:r>
          </a:p>
          <a:p>
            <a:pPr algn="l">
              <a:lnSpc>
                <a:spcPts val="3630"/>
              </a:lnSpc>
              <a:spcBef>
                <a:spcPct val="0"/>
              </a:spcBef>
            </a:pPr>
          </a:p>
          <a:p>
            <a:pPr algn="l">
              <a:lnSpc>
                <a:spcPts val="3630"/>
              </a:lnSpc>
              <a:spcBef>
                <a:spcPct val="0"/>
              </a:spcBef>
            </a:pPr>
            <a:r>
              <a:rPr lang="en-US" sz="3102">
                <a:solidFill>
                  <a:srgbClr val="000000"/>
                </a:solidFill>
                <a:latin typeface="Hero Bold"/>
                <a:ea typeface="Hero Bold"/>
                <a:cs typeface="Hero Bold"/>
                <a:sym typeface="Hero Bold"/>
              </a:rPr>
              <a:t>Enter Unwanted Websites (link): </a:t>
            </a:r>
          </a:p>
          <a:p>
            <a:pPr algn="l">
              <a:lnSpc>
                <a:spcPts val="3630"/>
              </a:lnSpc>
              <a:spcBef>
                <a:spcPct val="0"/>
              </a:spcBef>
            </a:pPr>
            <a:r>
              <a:rPr lang="en-US" sz="3102">
                <a:solidFill>
                  <a:srgbClr val="000000"/>
                </a:solidFill>
                <a:latin typeface="Hero"/>
                <a:ea typeface="Hero"/>
                <a:cs typeface="Hero"/>
                <a:sym typeface="Hero"/>
              </a:rPr>
              <a:t>facebook.com </a:t>
            </a:r>
          </a:p>
          <a:p>
            <a:pPr algn="l">
              <a:lnSpc>
                <a:spcPts val="3630"/>
              </a:lnSpc>
              <a:spcBef>
                <a:spcPct val="0"/>
              </a:spcBef>
            </a:pPr>
            <a:r>
              <a:rPr lang="en-US" sz="3102">
                <a:solidFill>
                  <a:srgbClr val="000000"/>
                </a:solidFill>
                <a:latin typeface="Hero"/>
                <a:ea typeface="Hero"/>
                <a:cs typeface="Hero"/>
                <a:sym typeface="Hero"/>
              </a:rPr>
              <a:t>instagram.com </a:t>
            </a:r>
          </a:p>
          <a:p>
            <a:pPr algn="l">
              <a:lnSpc>
                <a:spcPts val="3630"/>
              </a:lnSpc>
              <a:spcBef>
                <a:spcPct val="0"/>
              </a:spcBef>
            </a:pPr>
            <a:r>
              <a:rPr lang="en-US" sz="3102">
                <a:solidFill>
                  <a:srgbClr val="000000"/>
                </a:solidFill>
                <a:latin typeface="Hero"/>
                <a:ea typeface="Hero"/>
                <a:cs typeface="Hero"/>
                <a:sym typeface="Hero"/>
              </a:rPr>
              <a:t>tiktok.com</a:t>
            </a:r>
          </a:p>
          <a:p>
            <a:pPr algn="l">
              <a:lnSpc>
                <a:spcPts val="3630"/>
              </a:lnSpc>
              <a:spcBef>
                <a:spcPct val="0"/>
              </a:spcBef>
            </a:pPr>
          </a:p>
          <a:p>
            <a:pPr algn="l">
              <a:lnSpc>
                <a:spcPts val="3630"/>
              </a:lnSpc>
              <a:spcBef>
                <a:spcPct val="0"/>
              </a:spcBef>
            </a:pPr>
            <a:r>
              <a:rPr lang="en-US" sz="3102">
                <a:solidFill>
                  <a:srgbClr val="000000"/>
                </a:solidFill>
                <a:latin typeface="Hero Bold"/>
                <a:ea typeface="Hero Bold"/>
                <a:cs typeface="Hero Bold"/>
                <a:sym typeface="Hero Bold"/>
              </a:rPr>
              <a:t>Start Focus Timer</a:t>
            </a:r>
          </a:p>
          <a:p>
            <a:pPr algn="l">
              <a:lnSpc>
                <a:spcPts val="3630"/>
              </a:lnSpc>
              <a:spcBef>
                <a:spcPct val="0"/>
              </a:spcBef>
            </a:pPr>
          </a:p>
          <a:p>
            <a:pPr algn="l">
              <a:lnSpc>
                <a:spcPts val="3630"/>
              </a:lnSpc>
              <a:spcBef>
                <a:spcPct val="0"/>
              </a:spcBef>
            </a:pPr>
            <a:r>
              <a:rPr lang="en-US" sz="3102">
                <a:solidFill>
                  <a:srgbClr val="000000"/>
                </a:solidFill>
                <a:latin typeface="Hero Bold"/>
                <a:ea typeface="Hero Bold"/>
                <a:cs typeface="Hero Bold"/>
                <a:sym typeface="Hero Bold"/>
              </a:rPr>
              <a:t>After study sesh...</a:t>
            </a:r>
          </a:p>
          <a:p>
            <a:pPr algn="l">
              <a:lnSpc>
                <a:spcPts val="3630"/>
              </a:lnSpc>
              <a:spcBef>
                <a:spcPct val="0"/>
              </a:spcBef>
            </a:pPr>
          </a:p>
          <a:p>
            <a:pPr algn="l">
              <a:lnSpc>
                <a:spcPts val="3630"/>
              </a:lnSpc>
              <a:spcBef>
                <a:spcPct val="0"/>
              </a:spcBef>
            </a:pPr>
            <a:r>
              <a:rPr lang="en-US" sz="3102">
                <a:solidFill>
                  <a:srgbClr val="000000"/>
                </a:solidFill>
                <a:latin typeface="Hero Bold"/>
                <a:ea typeface="Hero Bold"/>
                <a:cs typeface="Hero Bold"/>
                <a:sym typeface="Hero Bold"/>
              </a:rPr>
              <a:t>Progress:</a:t>
            </a:r>
            <a:r>
              <a:rPr lang="en-US" sz="3102">
                <a:solidFill>
                  <a:srgbClr val="000000"/>
                </a:solidFill>
                <a:latin typeface="Hero"/>
                <a:ea typeface="Hero"/>
                <a:cs typeface="Hero"/>
                <a:sym typeface="Hero"/>
              </a:rPr>
              <a:t> You studied your biology quiz for 1 hour! Good Job!</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9905" y="376073"/>
            <a:ext cx="17379440" cy="9553234"/>
            <a:chOff x="0" y="0"/>
            <a:chExt cx="23172587" cy="12737646"/>
          </a:xfrm>
        </p:grpSpPr>
        <p:sp>
          <p:nvSpPr>
            <p:cNvPr name="Freeform 3" id="3"/>
            <p:cNvSpPr/>
            <p:nvPr/>
          </p:nvSpPr>
          <p:spPr>
            <a:xfrm flipH="false" flipV="false" rot="-10800000">
              <a:off x="0" y="0"/>
              <a:ext cx="18190091" cy="12737646"/>
            </a:xfrm>
            <a:custGeom>
              <a:avLst/>
              <a:gdLst/>
              <a:ahLst/>
              <a:cxnLst/>
              <a:rect r="r" b="b" t="t" l="l"/>
              <a:pathLst>
                <a:path h="12737646" w="18190091">
                  <a:moveTo>
                    <a:pt x="0" y="0"/>
                  </a:moveTo>
                  <a:lnTo>
                    <a:pt x="18190091" y="0"/>
                  </a:lnTo>
                  <a:lnTo>
                    <a:pt x="18190091" y="12737646"/>
                  </a:lnTo>
                  <a:lnTo>
                    <a:pt x="0" y="12737646"/>
                  </a:lnTo>
                  <a:lnTo>
                    <a:pt x="0" y="0"/>
                  </a:lnTo>
                  <a:close/>
                </a:path>
              </a:pathLst>
            </a:custGeom>
            <a:blipFill>
              <a:blip r:embed="rId2">
                <a:extLst>
                  <a:ext uri="{96DAC541-7B7A-43D3-8B79-37D633B846F1}">
                    <asvg:svgBlip xmlns:asvg="http://schemas.microsoft.com/office/drawing/2016/SVG/main" r:embed="rId3"/>
                  </a:ext>
                </a:extLst>
              </a:blip>
              <a:stretch>
                <a:fillRect l="-94" t="0" r="-94" b="0"/>
              </a:stretch>
            </a:blipFill>
          </p:spPr>
        </p:sp>
        <p:sp>
          <p:nvSpPr>
            <p:cNvPr name="Freeform 4" id="4"/>
            <p:cNvSpPr/>
            <p:nvPr/>
          </p:nvSpPr>
          <p:spPr>
            <a:xfrm flipH="false" flipV="false" rot="-10800000">
              <a:off x="4982496" y="0"/>
              <a:ext cx="18190091" cy="12737646"/>
            </a:xfrm>
            <a:custGeom>
              <a:avLst/>
              <a:gdLst/>
              <a:ahLst/>
              <a:cxnLst/>
              <a:rect r="r" b="b" t="t" l="l"/>
              <a:pathLst>
                <a:path h="12737646" w="18190091">
                  <a:moveTo>
                    <a:pt x="0" y="0"/>
                  </a:moveTo>
                  <a:lnTo>
                    <a:pt x="18190091" y="0"/>
                  </a:lnTo>
                  <a:lnTo>
                    <a:pt x="18190091" y="12737646"/>
                  </a:lnTo>
                  <a:lnTo>
                    <a:pt x="0" y="12737646"/>
                  </a:lnTo>
                  <a:lnTo>
                    <a:pt x="0" y="0"/>
                  </a:lnTo>
                  <a:close/>
                </a:path>
              </a:pathLst>
            </a:custGeom>
            <a:blipFill>
              <a:blip r:embed="rId2">
                <a:extLst>
                  <a:ext uri="{96DAC541-7B7A-43D3-8B79-37D633B846F1}">
                    <asvg:svgBlip xmlns:asvg="http://schemas.microsoft.com/office/drawing/2016/SVG/main" r:embed="rId3"/>
                  </a:ext>
                </a:extLst>
              </a:blip>
              <a:stretch>
                <a:fillRect l="-94" t="0" r="-94" b="0"/>
              </a:stretch>
            </a:blipFill>
          </p:spPr>
        </p:sp>
      </p:grpSp>
      <p:sp>
        <p:nvSpPr>
          <p:cNvPr name="TextBox 5" id="5"/>
          <p:cNvSpPr txBox="true"/>
          <p:nvPr/>
        </p:nvSpPr>
        <p:spPr>
          <a:xfrm rot="0">
            <a:off x="5500113" y="3879844"/>
            <a:ext cx="7659777" cy="2032519"/>
          </a:xfrm>
          <a:prstGeom prst="rect">
            <a:avLst/>
          </a:prstGeom>
        </p:spPr>
        <p:txBody>
          <a:bodyPr anchor="t" rtlCol="false" tIns="0" lIns="0" bIns="0" rIns="0">
            <a:spAutoFit/>
          </a:bodyPr>
          <a:lstStyle/>
          <a:p>
            <a:pPr algn="ctr">
              <a:lnSpc>
                <a:spcPts val="16160"/>
              </a:lnSpc>
            </a:pPr>
            <a:r>
              <a:rPr lang="en-US" sz="12928">
                <a:solidFill>
                  <a:srgbClr val="FFFFFF"/>
                </a:solidFill>
                <a:latin typeface="Norwester"/>
                <a:ea typeface="Norwester"/>
                <a:cs typeface="Norwester"/>
                <a:sym typeface="Norwester"/>
              </a:rPr>
              <a:t>Thank you! </a:t>
            </a:r>
          </a:p>
        </p:txBody>
      </p:sp>
      <p:sp>
        <p:nvSpPr>
          <p:cNvPr name="Freeform 6" id="6"/>
          <p:cNvSpPr/>
          <p:nvPr/>
        </p:nvSpPr>
        <p:spPr>
          <a:xfrm flipH="false" flipV="false" rot="-1479401">
            <a:off x="648767" y="6319804"/>
            <a:ext cx="3887527" cy="3518212"/>
          </a:xfrm>
          <a:custGeom>
            <a:avLst/>
            <a:gdLst/>
            <a:ahLst/>
            <a:cxnLst/>
            <a:rect r="r" b="b" t="t" l="l"/>
            <a:pathLst>
              <a:path h="3518212" w="3887527">
                <a:moveTo>
                  <a:pt x="0" y="0"/>
                </a:moveTo>
                <a:lnTo>
                  <a:pt x="3887527" y="0"/>
                </a:lnTo>
                <a:lnTo>
                  <a:pt x="3887527" y="3518212"/>
                </a:lnTo>
                <a:lnTo>
                  <a:pt x="0" y="35182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1705804">
            <a:off x="7817403" y="6389703"/>
            <a:ext cx="3393669" cy="3454116"/>
          </a:xfrm>
          <a:custGeom>
            <a:avLst/>
            <a:gdLst/>
            <a:ahLst/>
            <a:cxnLst/>
            <a:rect r="r" b="b" t="t" l="l"/>
            <a:pathLst>
              <a:path h="3454116" w="3393669">
                <a:moveTo>
                  <a:pt x="0" y="0"/>
                </a:moveTo>
                <a:lnTo>
                  <a:pt x="3393669" y="0"/>
                </a:lnTo>
                <a:lnTo>
                  <a:pt x="3393669" y="3454116"/>
                </a:lnTo>
                <a:lnTo>
                  <a:pt x="0" y="345411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7948014" y="-344924"/>
            <a:ext cx="3132446" cy="3652998"/>
          </a:xfrm>
          <a:custGeom>
            <a:avLst/>
            <a:gdLst/>
            <a:ahLst/>
            <a:cxnLst/>
            <a:rect r="r" b="b" t="t" l="l"/>
            <a:pathLst>
              <a:path h="3652998" w="3132446">
                <a:moveTo>
                  <a:pt x="0" y="0"/>
                </a:moveTo>
                <a:lnTo>
                  <a:pt x="3132446" y="0"/>
                </a:lnTo>
                <a:lnTo>
                  <a:pt x="3132446" y="3652998"/>
                </a:lnTo>
                <a:lnTo>
                  <a:pt x="0" y="365299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2186597">
            <a:off x="14694555" y="91750"/>
            <a:ext cx="2835331" cy="4146736"/>
          </a:xfrm>
          <a:custGeom>
            <a:avLst/>
            <a:gdLst/>
            <a:ahLst/>
            <a:cxnLst/>
            <a:rect r="r" b="b" t="t" l="l"/>
            <a:pathLst>
              <a:path h="4146736" w="2835331">
                <a:moveTo>
                  <a:pt x="0" y="0"/>
                </a:moveTo>
                <a:lnTo>
                  <a:pt x="2835330" y="0"/>
                </a:lnTo>
                <a:lnTo>
                  <a:pt x="2835330" y="4146736"/>
                </a:lnTo>
                <a:lnTo>
                  <a:pt x="0" y="414673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1076085">
            <a:off x="13694835" y="5891653"/>
            <a:ext cx="4058222" cy="4114800"/>
          </a:xfrm>
          <a:custGeom>
            <a:avLst/>
            <a:gdLst/>
            <a:ahLst/>
            <a:cxnLst/>
            <a:rect r="r" b="b" t="t" l="l"/>
            <a:pathLst>
              <a:path h="4114800" w="4058222">
                <a:moveTo>
                  <a:pt x="0" y="0"/>
                </a:moveTo>
                <a:lnTo>
                  <a:pt x="4058221" y="0"/>
                </a:lnTo>
                <a:lnTo>
                  <a:pt x="4058221"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false" flipV="false" rot="1440186">
            <a:off x="570834" y="114636"/>
            <a:ext cx="4043393" cy="4173826"/>
          </a:xfrm>
          <a:custGeom>
            <a:avLst/>
            <a:gdLst/>
            <a:ahLst/>
            <a:cxnLst/>
            <a:rect r="r" b="b" t="t" l="l"/>
            <a:pathLst>
              <a:path h="4173826" w="4043393">
                <a:moveTo>
                  <a:pt x="0" y="0"/>
                </a:moveTo>
                <a:lnTo>
                  <a:pt x="4043393" y="0"/>
                </a:lnTo>
                <a:lnTo>
                  <a:pt x="4043393" y="4173826"/>
                </a:lnTo>
                <a:lnTo>
                  <a:pt x="0" y="417382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2" id="12"/>
          <p:cNvSpPr/>
          <p:nvPr/>
        </p:nvSpPr>
        <p:spPr>
          <a:xfrm flipH="false" flipV="false" rot="0">
            <a:off x="5720917" y="82702"/>
            <a:ext cx="1514280" cy="2797746"/>
          </a:xfrm>
          <a:custGeom>
            <a:avLst/>
            <a:gdLst/>
            <a:ahLst/>
            <a:cxnLst/>
            <a:rect r="r" b="b" t="t" l="l"/>
            <a:pathLst>
              <a:path h="2797746" w="1514280">
                <a:moveTo>
                  <a:pt x="0" y="0"/>
                </a:moveTo>
                <a:lnTo>
                  <a:pt x="1514280" y="0"/>
                </a:lnTo>
                <a:lnTo>
                  <a:pt x="1514280" y="2797746"/>
                </a:lnTo>
                <a:lnTo>
                  <a:pt x="0" y="2797746"/>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3" id="13"/>
          <p:cNvSpPr/>
          <p:nvPr/>
        </p:nvSpPr>
        <p:spPr>
          <a:xfrm flipH="false" flipV="false" rot="0">
            <a:off x="11525202" y="-344924"/>
            <a:ext cx="1912415" cy="3283116"/>
          </a:xfrm>
          <a:custGeom>
            <a:avLst/>
            <a:gdLst/>
            <a:ahLst/>
            <a:cxnLst/>
            <a:rect r="r" b="b" t="t" l="l"/>
            <a:pathLst>
              <a:path h="3283116" w="1912415">
                <a:moveTo>
                  <a:pt x="0" y="0"/>
                </a:moveTo>
                <a:lnTo>
                  <a:pt x="1912415" y="0"/>
                </a:lnTo>
                <a:lnTo>
                  <a:pt x="1912415" y="3283116"/>
                </a:lnTo>
                <a:lnTo>
                  <a:pt x="0" y="3283116"/>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4" id="14"/>
          <p:cNvSpPr/>
          <p:nvPr/>
        </p:nvSpPr>
        <p:spPr>
          <a:xfrm flipH="true" flipV="false" rot="0">
            <a:off x="13159891" y="3724575"/>
            <a:ext cx="1514280" cy="2797746"/>
          </a:xfrm>
          <a:custGeom>
            <a:avLst/>
            <a:gdLst/>
            <a:ahLst/>
            <a:cxnLst/>
            <a:rect r="r" b="b" t="t" l="l"/>
            <a:pathLst>
              <a:path h="2797746" w="1514280">
                <a:moveTo>
                  <a:pt x="1514280" y="0"/>
                </a:moveTo>
                <a:lnTo>
                  <a:pt x="0" y="0"/>
                </a:lnTo>
                <a:lnTo>
                  <a:pt x="0" y="2797746"/>
                </a:lnTo>
                <a:lnTo>
                  <a:pt x="1514280" y="2797746"/>
                </a:lnTo>
                <a:lnTo>
                  <a:pt x="151428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15" id="15"/>
          <p:cNvSpPr/>
          <p:nvPr/>
        </p:nvSpPr>
        <p:spPr>
          <a:xfrm flipH="true" flipV="false" rot="0">
            <a:off x="11827734" y="8116761"/>
            <a:ext cx="1912415" cy="3283116"/>
          </a:xfrm>
          <a:custGeom>
            <a:avLst/>
            <a:gdLst/>
            <a:ahLst/>
            <a:cxnLst/>
            <a:rect r="r" b="b" t="t" l="l"/>
            <a:pathLst>
              <a:path h="3283116" w="1912415">
                <a:moveTo>
                  <a:pt x="1912416" y="0"/>
                </a:moveTo>
                <a:lnTo>
                  <a:pt x="0" y="0"/>
                </a:lnTo>
                <a:lnTo>
                  <a:pt x="0" y="3283116"/>
                </a:lnTo>
                <a:lnTo>
                  <a:pt x="1912416" y="3283116"/>
                </a:lnTo>
                <a:lnTo>
                  <a:pt x="1912416"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16" id="16"/>
          <p:cNvSpPr/>
          <p:nvPr/>
        </p:nvSpPr>
        <p:spPr>
          <a:xfrm flipH="false" flipV="false" rot="-6489790">
            <a:off x="2471246" y="3725237"/>
            <a:ext cx="1912415" cy="3283116"/>
          </a:xfrm>
          <a:custGeom>
            <a:avLst/>
            <a:gdLst/>
            <a:ahLst/>
            <a:cxnLst/>
            <a:rect r="r" b="b" t="t" l="l"/>
            <a:pathLst>
              <a:path h="3283116" w="1912415">
                <a:moveTo>
                  <a:pt x="0" y="0"/>
                </a:moveTo>
                <a:lnTo>
                  <a:pt x="1912415" y="0"/>
                </a:lnTo>
                <a:lnTo>
                  <a:pt x="1912415" y="3283116"/>
                </a:lnTo>
                <a:lnTo>
                  <a:pt x="0" y="3283116"/>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17" id="17"/>
          <p:cNvSpPr/>
          <p:nvPr/>
        </p:nvSpPr>
        <p:spPr>
          <a:xfrm flipH="false" flipV="false" rot="0">
            <a:off x="4821632" y="7634796"/>
            <a:ext cx="1857322" cy="2566249"/>
          </a:xfrm>
          <a:custGeom>
            <a:avLst/>
            <a:gdLst/>
            <a:ahLst/>
            <a:cxnLst/>
            <a:rect r="r" b="b" t="t" l="l"/>
            <a:pathLst>
              <a:path h="2566249" w="1857322">
                <a:moveTo>
                  <a:pt x="0" y="0"/>
                </a:moveTo>
                <a:lnTo>
                  <a:pt x="1857323" y="0"/>
                </a:lnTo>
                <a:lnTo>
                  <a:pt x="1857323" y="2566248"/>
                </a:lnTo>
                <a:lnTo>
                  <a:pt x="0" y="2566248"/>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DAG5mj9yNbg</dc:identifier>
  <dcterms:modified xsi:type="dcterms:W3CDTF">2011-08-01T06:04:30Z</dcterms:modified>
  <cp:revision>1</cp:revision>
  <dc:title>CS 2</dc:title>
</cp:coreProperties>
</file>